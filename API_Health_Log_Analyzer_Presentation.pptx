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80d1f4f-5399-b55c-e758-91539eb6a39f}">
          <p14:sldIdLst>
            <p14:sldId id="256"/>
            <p14:sldId id="257"/>
            <p14:sldId id="258"/>
          </p14:sldIdLst>
        </p14:section>
        <p14:section name="Design" id="{ab054640-3d75-62d7-ae3b-d1477add9196}">
          <p14:sldIdLst>
            <p14:sldId id="259"/>
            <p14:sldId id="260"/>
            <p14:sldId id="261"/>
            <p14:sldId id="262"/>
            <p14:sldId id="263"/>
          </p14:sldIdLst>
        </p14:section>
        <p14:section name="Results" id="{32193358-edca-3512-97e5-34b3bd8fd0aa}">
          <p14:sldIdLst>
            <p14:sldId id="264"/>
            <p14:sldId id="265"/>
            <p14:sldId id="266"/>
            <p14:sldId id="267"/>
            <p14:sldId id="268"/>
          </p14:sldIdLst>
        </p14:section>
        <p14:section name="Wrap-up" id="{0f0a6bdb-ca65-d570-f293-47dc30e17e0f}">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Python tool and website that read API log files and report how healthy each API endpoint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log analysis matters: real servers produce thousands of lines. The tool automates the reading and gives clear numbers, a chart, a dashboard and a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uses only the Python standard library. Flask is needed only for the website. The dashboard is HTML and CSS generated by Python, with every chart drawn as inline SVG, so no chart library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stages from left to right. The same functions are used by the command-line tool and by the Flask website, so nothing is written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 has five fields separated by the pipe symbol. The right side shows the three health rules, which are defined in health_status() and can be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function is the heart of the classifier: two thresholds on error rate and response time decide the status. The right side lists the main functions; the website reuses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is a small Flask app with four routes. A visitor uploads a log file, Flask passes the text to the same analysis functions, and the dashboard page is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three core analysis steps and three ways of presenting the output. python log_analyzer.py gives the console report, and python app.py starts the website with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of what python log_analyzer.py prints for the sample log of 1,000 requests. /api/payments is CRITICAL, /api/orders and /api/login are DEGRADED.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table the program prints in the terminal and saves in report.csv. P95 means 95 percent of requests were faster than this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idea: start the site, upload api_health.log or click Try the sample log. If no file is chosen, the page shows a friendly error instead of crashing.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page the website returns. All charts are drawn as SVG by plain Python code in dashboard.py, so no chart library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chart: error rate per endpoint, with dashed lines at the 5 and 15 percent limits. Column chart: average and 95th percentile response time. Line chart: errors per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result, then mention the next steps. The database idea connects with the PL/SQL project and hosting the website with Advanced Internet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Python skills practised in the project. They are also good points to mention in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pic>
        <p:nvPicPr>
          <p:cNvPr id="2" name="Image 0" descr="/home/claude/rep/logo_uic.png">    </p:cNvPr>
          <p:cNvPicPr>
            <a:picLocks noChangeAspect="1"/>
          </p:cNvPicPr>
          <p:nvPr/>
        </p:nvPicPr>
        <p:blipFill>
          <a:blip r:embed="rId1"/>
          <a:stretch>
            <a:fillRect/>
          </a:stretch>
        </p:blipFill>
        <p:spPr>
          <a:xfrm>
            <a:off x="457200" y="274320"/>
            <a:ext cx="1737360" cy="607162"/>
          </a:xfrm>
          <a:prstGeom prst="rect">
            <a:avLst/>
          </a:prstGeom>
        </p:spPr>
      </p:pic>
      <p:pic>
        <p:nvPicPr>
          <p:cNvPr id="3" name="Image 1" descr="/home/claude/rep/logo_naac.png">    </p:cNvPr>
          <p:cNvPicPr>
            <a:picLocks noChangeAspect="1"/>
          </p:cNvPicPr>
          <p:nvPr/>
        </p:nvPicPr>
        <p:blipFill>
          <a:blip r:embed="rId2"/>
          <a:stretch>
            <a:fillRect/>
          </a:stretch>
        </p:blipFill>
        <p:spPr>
          <a:xfrm>
            <a:off x="6949440" y="301752"/>
            <a:ext cx="1737360" cy="434340"/>
          </a:xfrm>
          <a:prstGeom prst="rect">
            <a:avLst/>
          </a:prstGeom>
        </p:spPr>
      </p:pic>
      <p:sp>
        <p:nvSpPr>
          <p:cNvPr id="4" name="Text 0"/>
          <p:cNvSpPr/>
          <p:nvPr>
            <p:ph idx="102" type="title" hasCustomPrompt="1"/>
          </p:nvPr>
        </p:nvSpPr>
        <p:spPr>
          <a:xfrm>
            <a:off x="640080" y="1143000"/>
            <a:ext cx="5212080" cy="178308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5" name="Text 0"/>
          <p:cNvSpPr/>
          <p:nvPr>
            <p:ph idx="103" type="body" hasCustomPrompt="1"/>
          </p:nvPr>
        </p:nvSpPr>
        <p:spPr>
          <a:xfrm>
            <a:off x="640080" y="3063240"/>
            <a:ext cx="5212080" cy="73152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home/claude/rep/logo_uic.png">    </p:cNvPr>
          <p:cNvPicPr>
            <a:picLocks noChangeAspect="1"/>
          </p:cNvPicPr>
          <p:nvPr/>
        </p:nvPicPr>
        <p:blipFill>
          <a:blip r:embed="rId1"/>
          <a:stretch>
            <a:fillRect/>
          </a:stretch>
        </p:blipFill>
        <p:spPr>
          <a:xfrm>
            <a:off x="7635240" y="384048"/>
            <a:ext cx="1051560" cy="367589"/>
          </a:xfrm>
          <a:prstGeom prst="rect">
            <a:avLst/>
          </a:prstGeom>
        </p:spPr>
      </p:pic>
      <p:sp>
        <p:nvSpPr>
          <p:cNvPr id="3" name="Text 0"/>
          <p:cNvSpPr/>
          <p:nvPr>
            <p:ph idx="101" type="title" hasCustomPrompt="1"/>
          </p:nvPr>
        </p:nvSpPr>
        <p:spPr>
          <a:xfrm>
            <a:off x="457200" y="274320"/>
            <a:ext cx="694944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API Health Log Analyzer  |  MCA (CC&amp;D) Semester 1</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78638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640080" y="1143000"/>
            <a:ext cx="5212080" cy="1783080"/>
          </a:xfrm>
          <a:prstGeom prst="rect">
            <a:avLst/>
          </a:prstGeom>
          <a:noFill/>
          <a:ln/>
        </p:spPr>
        <p:txBody>
          <a:bodyPr wrap="square" lIns="0" tIns="0" rIns="0" bIns="0" rtlCol="0" anchor="b"/>
          <a:lstStyle/>
          <a:p>
            <a:pPr algn="l" indent="0" marL="0">
              <a:buNone/>
            </a:pPr>
            <a:r>
              <a:rPr lang="en-US" sz="3800" b="1" dirty="0">
                <a:solidFill>
                  <a:schemeClr val="tx1"/>
                </a:solidFill>
              </a:rPr>
              <a:t>API Health Log Analyzer Using Python</a:t>
            </a:r>
            <a:endParaRPr lang="en-US" sz="3800" dirty="0"/>
          </a:p>
        </p:txBody>
      </p:sp>
      <p:sp>
        <p:nvSpPr>
          <p:cNvPr id="3" name="Text 0"/>
          <p:cNvSpPr/>
          <p:nvPr>
            <p:ph idx="103" type="body" hasCustomPrompt="1"/>
          </p:nvPr>
        </p:nvSpPr>
        <p:spPr>
          <a:xfrm>
            <a:off x="640080" y="3063240"/>
            <a:ext cx="5212080" cy="731520"/>
          </a:xfrm>
          <a:prstGeom prst="rect">
            <a:avLst/>
          </a:prstGeom>
          <a:noFill/>
          <a:ln/>
        </p:spPr>
        <p:txBody>
          <a:bodyPr wrap="square" lIns="0" tIns="0" rIns="0" bIns="0" rtlCol="0" anchor="t"/>
          <a:lstStyle/>
          <a:p>
            <a:pPr algn="l" indent="0" marL="0">
              <a:buNone/>
            </a:pPr>
            <a:r>
              <a:rPr lang="en-US" sz="1800" dirty="0">
                <a:solidFill>
                  <a:schemeClr val="accent5"/>
                </a:solidFill>
              </a:rPr>
              <a:t>Python Mini Project</a:t>
            </a:r>
            <a:endParaRPr lang="en-US" sz="1800" dirty="0"/>
          </a:p>
          <a:p>
            <a:pPr algn="l" indent="0" marL="0">
              <a:buNone/>
            </a:pPr>
            <a:r>
              <a:rPr lang="en-US" sz="1800" dirty="0">
                <a:solidFill>
                  <a:schemeClr val="accent5"/>
                </a:solidFill>
              </a:rPr>
              <a:t>MCA (CC&amp;D)  |  Semester 1</a:t>
            </a:r>
            <a:endParaRPr lang="en-US" sz="1800" dirty="0"/>
          </a:p>
        </p:txBody>
      </p:sp>
      <p:sp>
        <p:nvSpPr>
          <p:cNvPr id="4" name="Outer ring"/>
          <p:cNvSpPr/>
          <p:nvPr/>
        </p:nvSpPr>
        <p:spPr>
          <a:xfrm>
            <a:off x="6263640" y="1417320"/>
            <a:ext cx="2468880" cy="2468880"/>
          </a:xfrm>
          <a:prstGeom prst="ellipse">
            <a:avLst/>
          </a:prstGeom>
          <a:solidFill>
            <a:schemeClr val="accent1">
              <a:alpha val="30000"/>
            </a:schemeClr>
          </a:solidFill>
          <a:ln/>
        </p:spPr>
      </p:sp>
      <p:sp>
        <p:nvSpPr>
          <p:cNvPr id="5" name="Inner circle"/>
          <p:cNvSpPr/>
          <p:nvPr/>
        </p:nvSpPr>
        <p:spPr>
          <a:xfrm>
            <a:off x="6629400" y="1783080"/>
            <a:ext cx="1737360" cy="1737360"/>
          </a:xfrm>
          <a:prstGeom prst="ellipse">
            <a:avLst/>
          </a:prstGeom>
          <a:solidFill>
            <a:schemeClr val="accent1"/>
          </a:solidFill>
          <a:ln/>
        </p:spPr>
      </p:sp>
      <p:pic>
        <p:nvPicPr>
          <p:cNvPr id="6" name="Heartbeat icon" descr="Heartbeat">    </p:cNvPr>
          <p:cNvPicPr>
            <a:picLocks noChangeAspect="1"/>
          </p:cNvPicPr>
          <p:nvPr/>
        </p:nvPicPr>
        <p:blipFill>
          <a:blip r:embed="rId1"/>
          <a:stretch>
            <a:fillRect/>
          </a:stretch>
        </p:blipFill>
        <p:spPr>
          <a:xfrm>
            <a:off x="7132320" y="2286000"/>
            <a:ext cx="731520" cy="731520"/>
          </a:xfrm>
          <a:prstGeom prst="rect">
            <a:avLst/>
          </a:prstGeom>
        </p:spPr>
      </p:pic>
      <p:sp>
        <p:nvSpPr>
          <p:cNvPr id="7" name="Submitted by"/>
          <p:cNvSpPr txBox="1"/>
          <p:nvPr/>
        </p:nvSpPr>
        <p:spPr>
          <a:xfrm>
            <a:off x="640080" y="4023360"/>
            <a:ext cx="4023360" cy="777240"/>
          </a:xfrm>
          <a:prstGeom prst="rect">
            <a:avLst/>
          </a:prstGeom>
          <a:noFill/>
          <a:ln/>
        </p:spPr>
        <p:txBody>
          <a:bodyPr wrap="square" lIns="0" tIns="0" rIns="0" bIns="0" rtlCol="0" anchor="t"/>
          <a:lstStyle/>
          <a:p>
            <a:pPr indent="0" marL="0">
              <a:buNone/>
            </a:pPr>
            <a:r>
              <a:rPr lang="en-US" sz="1200" b="1" dirty="0">
                <a:solidFill>
                  <a:schemeClr val="accent1"/>
                </a:solidFill>
              </a:rPr>
              <a:t>SUBMITTED BY</a:t>
            </a:r>
            <a:endParaRPr lang="en-US" sz="1200" dirty="0"/>
          </a:p>
          <a:p>
            <a:pPr indent="0" marL="0">
              <a:buNone/>
            </a:pPr>
            <a:r>
              <a:rPr lang="en-US" sz="1400" dirty="0">
                <a:solidFill>
                  <a:schemeClr val="tx1"/>
                </a:solidFill>
              </a:rPr>
              <a:t>[Your Name]  |  UID: [Your UID]</a:t>
            </a:r>
            <a:endParaRPr lang="en-US" sz="1200" dirty="0"/>
          </a:p>
          <a:p>
            <a:pPr indent="0" marL="0">
              <a:buNone/>
            </a:pPr>
            <a:r>
              <a:rPr lang="en-US" sz="1400" dirty="0">
                <a:solidFill>
                  <a:schemeClr val="tx1"/>
                </a:solidFill>
              </a:rPr>
              <a:t>MCA (CC&amp;D)  |  Section: [Your Section]</a:t>
            </a:r>
            <a:endParaRPr lang="en-US" sz="1200" dirty="0"/>
          </a:p>
        </p:txBody>
      </p:sp>
      <p:sp>
        <p:nvSpPr>
          <p:cNvPr id="8" name="Submitted to"/>
          <p:cNvSpPr txBox="1"/>
          <p:nvPr/>
        </p:nvSpPr>
        <p:spPr>
          <a:xfrm>
            <a:off x="4937760" y="4023360"/>
            <a:ext cx="3749040" cy="777240"/>
          </a:xfrm>
          <a:prstGeom prst="rect">
            <a:avLst/>
          </a:prstGeom>
          <a:noFill/>
          <a:ln/>
        </p:spPr>
        <p:txBody>
          <a:bodyPr wrap="square" lIns="0" tIns="0" rIns="0" bIns="0" rtlCol="0" anchor="t"/>
          <a:lstStyle/>
          <a:p>
            <a:pPr indent="0" marL="0">
              <a:buNone/>
            </a:pPr>
            <a:r>
              <a:rPr lang="en-US" sz="1200" b="1" dirty="0">
                <a:solidFill>
                  <a:schemeClr val="accent1"/>
                </a:solidFill>
              </a:rPr>
              <a:t>SUBMITTED TO</a:t>
            </a:r>
            <a:endParaRPr lang="en-US" sz="1200" dirty="0"/>
          </a:p>
          <a:p>
            <a:pPr indent="0" marL="0">
              <a:buNone/>
            </a:pPr>
            <a:r>
              <a:rPr lang="en-US" sz="1400" dirty="0">
                <a:solidFill>
                  <a:schemeClr val="tx1"/>
                </a:solidFill>
              </a:rPr>
              <a:t>[Faculty Name]</a:t>
            </a:r>
            <a:endParaRPr lang="en-US" sz="1200" dirty="0"/>
          </a:p>
          <a:p>
            <a:pPr indent="0" marL="0">
              <a:buNone/>
            </a:pPr>
            <a:r>
              <a:rPr lang="en-US" sz="1400" dirty="0">
                <a:solidFill>
                  <a:schemeClr val="tx1"/>
                </a:solidFill>
              </a:rPr>
              <a:t>[Designation]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Problem and Objectives</a:t>
            </a:r>
            <a:endParaRPr lang="en-US" sz="3600" dirty="0"/>
          </a:p>
        </p:txBody>
      </p:sp>
      <p:sp>
        <p:nvSpPr>
          <p:cNvPr id="3" name="Problem card"/>
          <p:cNvSpPr/>
          <p:nvPr/>
        </p:nvSpPr>
        <p:spPr>
          <a:xfrm>
            <a:off x="457200" y="1280160"/>
            <a:ext cx="3931920" cy="3200400"/>
          </a:xfrm>
          <a:prstGeom prst="roundRect">
            <a:avLst>
              <a:gd name="adj" fmla="val 3429"/>
            </a:avLst>
          </a:prstGeom>
          <a:solidFill>
            <a:schemeClr val="bg2"/>
          </a:solidFill>
          <a:ln/>
        </p:spPr>
      </p:sp>
      <p:sp>
        <p:nvSpPr>
          <p:cNvPr id="4" name="Log file circle"/>
          <p:cNvSpPr/>
          <p:nvPr/>
        </p:nvSpPr>
        <p:spPr>
          <a:xfrm>
            <a:off x="731520" y="1554480"/>
            <a:ext cx="731520" cy="731520"/>
          </a:xfrm>
          <a:prstGeom prst="ellipse">
            <a:avLst/>
          </a:prstGeom>
          <a:solidFill>
            <a:schemeClr val="accent1"/>
          </a:solidFill>
          <a:ln/>
        </p:spPr>
      </p:sp>
      <p:pic>
        <p:nvPicPr>
          <p:cNvPr id="5" name="Log file icon" descr="Log file">    </p:cNvPr>
          <p:cNvPicPr>
            <a:picLocks noChangeAspect="1"/>
          </p:cNvPicPr>
          <p:nvPr/>
        </p:nvPicPr>
        <p:blipFill>
          <a:blip r:embed="rId1"/>
          <a:stretch>
            <a:fillRect/>
          </a:stretch>
        </p:blipFill>
        <p:spPr>
          <a:xfrm>
            <a:off x="914400" y="1737360"/>
            <a:ext cx="365760" cy="365760"/>
          </a:xfrm>
          <a:prstGeom prst="rect">
            <a:avLst/>
          </a:prstGeom>
        </p:spPr>
      </p:pic>
      <p:sp>
        <p:nvSpPr>
          <p:cNvPr id="6" name="Problem heading"/>
          <p:cNvSpPr txBox="1"/>
          <p:nvPr/>
        </p:nvSpPr>
        <p:spPr>
          <a:xfrm>
            <a:off x="731520" y="2423160"/>
            <a:ext cx="3383280" cy="411480"/>
          </a:xfrm>
          <a:prstGeom prst="rect">
            <a:avLst/>
          </a:prstGeom>
          <a:noFill/>
          <a:ln/>
        </p:spPr>
        <p:txBody>
          <a:bodyPr wrap="square" lIns="0" tIns="0" rIns="0" bIns="0" rtlCol="0" anchor="ctr"/>
          <a:lstStyle/>
          <a:p>
            <a:pPr indent="0" marL="0">
              <a:buNone/>
            </a:pPr>
            <a:r>
              <a:rPr lang="en-US" sz="2000" b="1" dirty="0">
                <a:solidFill>
                  <a:schemeClr val="tx1"/>
                </a:solidFill>
              </a:rPr>
              <a:t>Manual log reading fails</a:t>
            </a:r>
            <a:endParaRPr lang="en-US" sz="2000" dirty="0"/>
          </a:p>
        </p:txBody>
      </p:sp>
      <p:sp>
        <p:nvSpPr>
          <p:cNvPr id="7" name="Problem text"/>
          <p:cNvSpPr txBox="1"/>
          <p:nvPr/>
        </p:nvSpPr>
        <p:spPr>
          <a:xfrm>
            <a:off x="731520" y="2926080"/>
            <a:ext cx="3383280" cy="1371600"/>
          </a:xfrm>
          <a:prstGeom prst="rect">
            <a:avLst/>
          </a:prstGeom>
          <a:noFill/>
          <a:ln/>
        </p:spPr>
        <p:txBody>
          <a:bodyPr wrap="square" lIns="0" tIns="0" rIns="0" bIns="0" rtlCol="0" anchor="t"/>
          <a:lstStyle/>
          <a:p>
            <a:pPr indent="0" marL="0">
              <a:buNone/>
            </a:pPr>
            <a:r>
              <a:rPr lang="en-US" sz="1600" dirty="0">
                <a:solidFill>
                  <a:schemeClr val="tx1"/>
                </a:solidFill>
              </a:rPr>
              <a:t>Servers write thousands of API log lines every hour. Finding failing or slow endpoints by eye is slow, tiring and easy to get wrong.</a:t>
            </a:r>
            <a:endParaRPr lang="en-US" sz="1600" dirty="0"/>
          </a:p>
        </p:txBody>
      </p:sp>
      <p:sp>
        <p:nvSpPr>
          <p:cNvPr id="8" name="Objectives heading"/>
          <p:cNvSpPr txBox="1"/>
          <p:nvPr/>
        </p:nvSpPr>
        <p:spPr>
          <a:xfrm>
            <a:off x="4754880" y="1280160"/>
            <a:ext cx="3931920" cy="411480"/>
          </a:xfrm>
          <a:prstGeom prst="rect">
            <a:avLst/>
          </a:prstGeom>
          <a:noFill/>
          <a:ln/>
        </p:spPr>
        <p:txBody>
          <a:bodyPr wrap="square" lIns="0" tIns="0" rIns="0" bIns="0" rtlCol="0" anchor="ctr"/>
          <a:lstStyle/>
          <a:p>
            <a:pPr indent="0" marL="0">
              <a:buNone/>
            </a:pPr>
            <a:r>
              <a:rPr lang="en-US" sz="2000" b="1" dirty="0">
                <a:solidFill>
                  <a:schemeClr val="tx1"/>
                </a:solidFill>
              </a:rPr>
              <a:t>Objectives</a:t>
            </a:r>
            <a:endParaRPr lang="en-US" sz="2000" dirty="0"/>
          </a:p>
        </p:txBody>
      </p:sp>
      <p:sp>
        <p:nvSpPr>
          <p:cNvPr id="9" name="Parse the log circle"/>
          <p:cNvSpPr/>
          <p:nvPr/>
        </p:nvSpPr>
        <p:spPr>
          <a:xfrm>
            <a:off x="4754880" y="1828800"/>
            <a:ext cx="594360" cy="594360"/>
          </a:xfrm>
          <a:prstGeom prst="ellipse">
            <a:avLst/>
          </a:prstGeom>
          <a:solidFill>
            <a:schemeClr val="accent1"/>
          </a:solidFill>
          <a:ln/>
        </p:spPr>
      </p:sp>
      <p:pic>
        <p:nvPicPr>
          <p:cNvPr id="10" name="Parse the log icon" descr="Parse the log">    </p:cNvPr>
          <p:cNvPicPr>
            <a:picLocks noChangeAspect="1"/>
          </p:cNvPicPr>
          <p:nvPr/>
        </p:nvPicPr>
        <p:blipFill>
          <a:blip r:embed="rId2"/>
          <a:stretch>
            <a:fillRect/>
          </a:stretch>
        </p:blipFill>
        <p:spPr>
          <a:xfrm>
            <a:off x="4903470" y="1977390"/>
            <a:ext cx="297180" cy="297180"/>
          </a:xfrm>
          <a:prstGeom prst="rect">
            <a:avLst/>
          </a:prstGeom>
        </p:spPr>
      </p:pic>
      <p:sp>
        <p:nvSpPr>
          <p:cNvPr id="11" name="Parse the log text"/>
          <p:cNvSpPr txBox="1"/>
          <p:nvPr/>
        </p:nvSpPr>
        <p:spPr>
          <a:xfrm>
            <a:off x="5532120" y="1737360"/>
            <a:ext cx="3154680" cy="777240"/>
          </a:xfrm>
          <a:prstGeom prst="rect">
            <a:avLst/>
          </a:prstGeom>
          <a:noFill/>
          <a:ln/>
        </p:spPr>
        <p:txBody>
          <a:bodyPr wrap="square" lIns="0" tIns="0" rIns="0" bIns="0" rtlCol="0" anchor="ctr"/>
          <a:lstStyle/>
          <a:p>
            <a:pPr indent="0" marL="0">
              <a:buNone/>
            </a:pPr>
            <a:r>
              <a:rPr lang="en-US" sz="1600" b="1" dirty="0">
                <a:solidFill>
                  <a:schemeClr val="tx1"/>
                </a:solidFill>
              </a:rPr>
              <a:t>Parse the log</a:t>
            </a:r>
            <a:endParaRPr lang="en-US" sz="1600" dirty="0"/>
          </a:p>
          <a:p>
            <a:pPr indent="0" marL="0">
              <a:buNone/>
            </a:pPr>
            <a:r>
              <a:rPr lang="en-US" sz="1400" dirty="0">
                <a:solidFill>
                  <a:schemeClr val="tx1"/>
                </a:solidFill>
              </a:rPr>
              <a:t>Extract method, endpoint, status and time using regex</a:t>
            </a:r>
            <a:endParaRPr lang="en-US" sz="1600" dirty="0"/>
          </a:p>
        </p:txBody>
      </p:sp>
      <p:sp>
        <p:nvSpPr>
          <p:cNvPr id="12" name="Measure health circle"/>
          <p:cNvSpPr/>
          <p:nvPr/>
        </p:nvSpPr>
        <p:spPr>
          <a:xfrm>
            <a:off x="4754880" y="2743200"/>
            <a:ext cx="594360" cy="594360"/>
          </a:xfrm>
          <a:prstGeom prst="ellipse">
            <a:avLst/>
          </a:prstGeom>
          <a:solidFill>
            <a:schemeClr val="accent1"/>
          </a:solidFill>
          <a:ln/>
        </p:spPr>
      </p:sp>
      <p:pic>
        <p:nvPicPr>
          <p:cNvPr id="13" name="Measure health icon" descr="Measure health">    </p:cNvPr>
          <p:cNvPicPr>
            <a:picLocks noChangeAspect="1"/>
          </p:cNvPicPr>
          <p:nvPr/>
        </p:nvPicPr>
        <p:blipFill>
          <a:blip r:embed="rId3"/>
          <a:stretch>
            <a:fillRect/>
          </a:stretch>
        </p:blipFill>
        <p:spPr>
          <a:xfrm>
            <a:off x="4903470" y="2891790"/>
            <a:ext cx="297180" cy="297180"/>
          </a:xfrm>
          <a:prstGeom prst="rect">
            <a:avLst/>
          </a:prstGeom>
        </p:spPr>
      </p:pic>
      <p:sp>
        <p:nvSpPr>
          <p:cNvPr id="14" name="Measure health text"/>
          <p:cNvSpPr txBox="1"/>
          <p:nvPr/>
        </p:nvSpPr>
        <p:spPr>
          <a:xfrm>
            <a:off x="5532120" y="2651760"/>
            <a:ext cx="3154680" cy="777240"/>
          </a:xfrm>
          <a:prstGeom prst="rect">
            <a:avLst/>
          </a:prstGeom>
          <a:noFill/>
          <a:ln/>
        </p:spPr>
        <p:txBody>
          <a:bodyPr wrap="square" lIns="0" tIns="0" rIns="0" bIns="0" rtlCol="0" anchor="ctr"/>
          <a:lstStyle/>
          <a:p>
            <a:pPr indent="0" marL="0">
              <a:buNone/>
            </a:pPr>
            <a:r>
              <a:rPr lang="en-US" sz="1600" b="1" dirty="0">
                <a:solidFill>
                  <a:schemeClr val="tx1"/>
                </a:solidFill>
              </a:rPr>
              <a:t>Measure health</a:t>
            </a:r>
            <a:endParaRPr lang="en-US" sz="1600" dirty="0"/>
          </a:p>
          <a:p>
            <a:pPr indent="0" marL="0">
              <a:buNone/>
            </a:pPr>
            <a:r>
              <a:rPr lang="en-US" sz="1400" dirty="0">
                <a:solidFill>
                  <a:schemeClr val="tx1"/>
                </a:solidFill>
              </a:rPr>
              <a:t>Success rate, error rate and response times</a:t>
            </a:r>
            <a:endParaRPr lang="en-US" sz="1600" dirty="0"/>
          </a:p>
        </p:txBody>
      </p:sp>
      <p:sp>
        <p:nvSpPr>
          <p:cNvPr id="15" name="Show the results circle"/>
          <p:cNvSpPr/>
          <p:nvPr/>
        </p:nvSpPr>
        <p:spPr>
          <a:xfrm>
            <a:off x="4754880" y="3657600"/>
            <a:ext cx="594360" cy="594360"/>
          </a:xfrm>
          <a:prstGeom prst="ellipse">
            <a:avLst/>
          </a:prstGeom>
          <a:solidFill>
            <a:schemeClr val="accent1"/>
          </a:solidFill>
          <a:ln/>
        </p:spPr>
      </p:sp>
      <p:pic>
        <p:nvPicPr>
          <p:cNvPr id="16" name="Show the results icon" descr="Show the results">    </p:cNvPr>
          <p:cNvPicPr>
            <a:picLocks noChangeAspect="1"/>
          </p:cNvPicPr>
          <p:nvPr/>
        </p:nvPicPr>
        <p:blipFill>
          <a:blip r:embed="rId4"/>
          <a:stretch>
            <a:fillRect/>
          </a:stretch>
        </p:blipFill>
        <p:spPr>
          <a:xfrm>
            <a:off x="4903470" y="3806190"/>
            <a:ext cx="297180" cy="297180"/>
          </a:xfrm>
          <a:prstGeom prst="rect">
            <a:avLst/>
          </a:prstGeom>
        </p:spPr>
      </p:pic>
      <p:sp>
        <p:nvSpPr>
          <p:cNvPr id="17" name="Show the results text"/>
          <p:cNvSpPr txBox="1"/>
          <p:nvPr/>
        </p:nvSpPr>
        <p:spPr>
          <a:xfrm>
            <a:off x="5532120" y="3566160"/>
            <a:ext cx="3154680" cy="777240"/>
          </a:xfrm>
          <a:prstGeom prst="rect">
            <a:avLst/>
          </a:prstGeom>
          <a:noFill/>
          <a:ln/>
        </p:spPr>
        <p:txBody>
          <a:bodyPr wrap="square" lIns="0" tIns="0" rIns="0" bIns="0" rtlCol="0" anchor="ctr"/>
          <a:lstStyle/>
          <a:p>
            <a:pPr indent="0" marL="0">
              <a:buNone/>
            </a:pPr>
            <a:r>
              <a:rPr lang="en-US" sz="1600" b="1" dirty="0">
                <a:solidFill>
                  <a:schemeClr val="tx1"/>
                </a:solidFill>
              </a:rPr>
              <a:t>Show the results</a:t>
            </a:r>
            <a:endParaRPr lang="en-US" sz="1600" dirty="0"/>
          </a:p>
          <a:p>
            <a:pPr indent="0" marL="0">
              <a:buNone/>
            </a:pPr>
            <a:r>
              <a:rPr lang="en-US" sz="1400" dirty="0">
                <a:solidFill>
                  <a:schemeClr val="tx1"/>
                </a:solidFill>
              </a:rPr>
              <a:t>Console report and a website dashboard with charts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Technologies Used</a:t>
            </a:r>
            <a:endParaRPr lang="en-US" sz="3600" dirty="0"/>
          </a:p>
        </p:txBody>
      </p:sp>
      <p:sp>
        <p:nvSpPr>
          <p:cNvPr id="3" name="Requirements panel"/>
          <p:cNvSpPr/>
          <p:nvPr/>
        </p:nvSpPr>
        <p:spPr>
          <a:xfrm>
            <a:off x="457200" y="1280160"/>
            <a:ext cx="3291840" cy="3200400"/>
          </a:xfrm>
          <a:prstGeom prst="roundRect">
            <a:avLst>
              <a:gd name="adj" fmla="val 3429"/>
            </a:avLst>
          </a:prstGeom>
          <a:solidFill>
            <a:schemeClr val="tx1"/>
          </a:solidFill>
          <a:ln/>
        </p:spPr>
      </p:sp>
      <p:sp>
        <p:nvSpPr>
          <p:cNvPr id="4" name="Requirements heading"/>
          <p:cNvSpPr txBox="1"/>
          <p:nvPr/>
        </p:nvSpPr>
        <p:spPr>
          <a:xfrm>
            <a:off x="731520" y="1463040"/>
            <a:ext cx="2743200" cy="365760"/>
          </a:xfrm>
          <a:prstGeom prst="rect">
            <a:avLst/>
          </a:prstGeom>
          <a:noFill/>
          <a:ln/>
        </p:spPr>
        <p:txBody>
          <a:bodyPr wrap="square" lIns="0" tIns="0" rIns="0" bIns="0" rtlCol="0" anchor="ctr"/>
          <a:lstStyle/>
          <a:p>
            <a:pPr indent="0" marL="0">
              <a:buNone/>
            </a:pPr>
            <a:r>
              <a:rPr lang="en-US" sz="1800" b="1" dirty="0">
                <a:solidFill>
                  <a:schemeClr val="bg1"/>
                </a:solidFill>
              </a:rPr>
              <a:t>Requirements</a:t>
            </a:r>
            <a:endParaRPr lang="en-US" sz="1800" dirty="0"/>
          </a:p>
        </p:txBody>
      </p:sp>
      <p:sp>
        <p:nvSpPr>
          <p:cNvPr id="5" name="Requirements list"/>
          <p:cNvSpPr txBox="1"/>
          <p:nvPr/>
        </p:nvSpPr>
        <p:spPr>
          <a:xfrm>
            <a:off x="731520" y="1965960"/>
            <a:ext cx="2743200" cy="23774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bg1"/>
                </a:solidFill>
              </a:rPr>
              <a:t>Python 3.8 or higher</a:t>
            </a:r>
            <a:endParaRPr lang="en-US" sz="1400" dirty="0"/>
          </a:p>
          <a:p>
            <a:pPr marL="342900" indent="-342900">
              <a:spcAft>
                <a:spcPts val="700"/>
              </a:spcAft>
              <a:buSzPct val="100000"/>
              <a:buChar char="•"/>
            </a:pPr>
            <a:r>
              <a:rPr lang="en-US" sz="1400" dirty="0">
                <a:solidFill>
                  <a:schemeClr val="bg1"/>
                </a:solidFill>
              </a:rPr>
              <a:t>Code editor and terminal</a:t>
            </a:r>
            <a:endParaRPr lang="en-US" sz="1400" dirty="0"/>
          </a:p>
          <a:p>
            <a:pPr marL="342900" indent="-342900">
              <a:spcAft>
                <a:spcPts val="700"/>
              </a:spcAft>
              <a:buSzPct val="100000"/>
              <a:buChar char="•"/>
            </a:pPr>
            <a:r>
              <a:rPr lang="en-US" sz="1400" dirty="0">
                <a:solidFill>
                  <a:schemeClr val="bg1"/>
                </a:solidFill>
              </a:rPr>
              <a:t>Web browser</a:t>
            </a:r>
            <a:endParaRPr lang="en-US" sz="1400" dirty="0"/>
          </a:p>
          <a:p>
            <a:pPr marL="342900" indent="-342900">
              <a:spcAft>
                <a:spcPts val="700"/>
              </a:spcAft>
              <a:buSzPct val="100000"/>
              <a:buChar char="•"/>
            </a:pPr>
            <a:r>
              <a:rPr lang="en-US" sz="1400" dirty="0">
                <a:solidFill>
                  <a:schemeClr val="bg1"/>
                </a:solidFill>
              </a:rPr>
              <a:t>Flask, for the website (pip install flask)</a:t>
            </a:r>
            <a:endParaRPr lang="en-US" sz="1400" dirty="0"/>
          </a:p>
        </p:txBody>
      </p:sp>
      <p:sp>
        <p:nvSpPr>
          <p:cNvPr id="6" name="Chip re"/>
          <p:cNvSpPr/>
          <p:nvPr/>
        </p:nvSpPr>
        <p:spPr>
          <a:xfrm>
            <a:off x="4023360" y="1280160"/>
            <a:ext cx="2240280" cy="685800"/>
          </a:xfrm>
          <a:prstGeom prst="roundRect">
            <a:avLst>
              <a:gd name="adj" fmla="val 16000"/>
            </a:avLst>
          </a:prstGeom>
          <a:solidFill>
            <a:schemeClr val="bg2"/>
          </a:solidFill>
          <a:ln/>
        </p:spPr>
      </p:sp>
      <p:sp>
        <p:nvSpPr>
          <p:cNvPr id="7" name="Chip text re"/>
          <p:cNvSpPr txBox="1"/>
          <p:nvPr/>
        </p:nvSpPr>
        <p:spPr>
          <a:xfrm>
            <a:off x="4160520" y="1280160"/>
            <a:ext cx="2011680" cy="685800"/>
          </a:xfrm>
          <a:prstGeom prst="rect">
            <a:avLst/>
          </a:prstGeom>
          <a:noFill/>
          <a:ln/>
        </p:spPr>
        <p:txBody>
          <a:bodyPr wrap="square" lIns="0" tIns="0" rIns="0" bIns="0" rtlCol="0" anchor="ctr"/>
          <a:lstStyle/>
          <a:p>
            <a:pPr indent="0" marL="0">
              <a:buNone/>
            </a:pPr>
            <a:r>
              <a:rPr lang="en-US" sz="1400" b="1" dirty="0">
                <a:solidFill>
                  <a:schemeClr val="tx1"/>
                </a:solidFill>
              </a:rPr>
              <a:t>re</a:t>
            </a:r>
            <a:endParaRPr lang="en-US" sz="1400" dirty="0"/>
          </a:p>
          <a:p>
            <a:pPr indent="0" marL="0">
              <a:buNone/>
            </a:pPr>
            <a:r>
              <a:rPr lang="en-US" sz="1200" dirty="0">
                <a:solidFill>
                  <a:schemeClr val="tx1"/>
                </a:solidFill>
              </a:rPr>
              <a:t>Regex parsing</a:t>
            </a:r>
            <a:endParaRPr lang="en-US" sz="1400" dirty="0"/>
          </a:p>
        </p:txBody>
      </p:sp>
      <p:sp>
        <p:nvSpPr>
          <p:cNvPr id="8" name="Chip defaultdict"/>
          <p:cNvSpPr/>
          <p:nvPr/>
        </p:nvSpPr>
        <p:spPr>
          <a:xfrm>
            <a:off x="6400800" y="1280160"/>
            <a:ext cx="2240280" cy="685800"/>
          </a:xfrm>
          <a:prstGeom prst="roundRect">
            <a:avLst>
              <a:gd name="adj" fmla="val 16000"/>
            </a:avLst>
          </a:prstGeom>
          <a:solidFill>
            <a:schemeClr val="bg2"/>
          </a:solidFill>
          <a:ln/>
        </p:spPr>
      </p:sp>
      <p:sp>
        <p:nvSpPr>
          <p:cNvPr id="9" name="Chip text defaultdict"/>
          <p:cNvSpPr txBox="1"/>
          <p:nvPr/>
        </p:nvSpPr>
        <p:spPr>
          <a:xfrm>
            <a:off x="6537960" y="1280160"/>
            <a:ext cx="2011680" cy="685800"/>
          </a:xfrm>
          <a:prstGeom prst="rect">
            <a:avLst/>
          </a:prstGeom>
          <a:noFill/>
          <a:ln/>
        </p:spPr>
        <p:txBody>
          <a:bodyPr wrap="square" lIns="0" tIns="0" rIns="0" bIns="0" rtlCol="0" anchor="ctr"/>
          <a:lstStyle/>
          <a:p>
            <a:pPr indent="0" marL="0">
              <a:buNone/>
            </a:pPr>
            <a:r>
              <a:rPr lang="en-US" sz="1400" b="1" dirty="0">
                <a:solidFill>
                  <a:schemeClr val="tx1"/>
                </a:solidFill>
              </a:rPr>
              <a:t>defaultdict</a:t>
            </a:r>
            <a:endParaRPr lang="en-US" sz="1400" dirty="0"/>
          </a:p>
          <a:p>
            <a:pPr indent="0" marL="0">
              <a:buNone/>
            </a:pPr>
            <a:r>
              <a:rPr lang="en-US" sz="1200" dirty="0">
                <a:solidFill>
                  <a:schemeClr val="tx1"/>
                </a:solidFill>
              </a:rPr>
              <a:t>Group by endpoint</a:t>
            </a:r>
            <a:endParaRPr lang="en-US" sz="1400" dirty="0"/>
          </a:p>
        </p:txBody>
      </p:sp>
      <p:sp>
        <p:nvSpPr>
          <p:cNvPr id="10" name="Chip Counter"/>
          <p:cNvSpPr/>
          <p:nvPr/>
        </p:nvSpPr>
        <p:spPr>
          <a:xfrm>
            <a:off x="4023360" y="2103120"/>
            <a:ext cx="2240280" cy="685800"/>
          </a:xfrm>
          <a:prstGeom prst="roundRect">
            <a:avLst>
              <a:gd name="adj" fmla="val 16000"/>
            </a:avLst>
          </a:prstGeom>
          <a:solidFill>
            <a:schemeClr val="bg2"/>
          </a:solidFill>
          <a:ln/>
        </p:spPr>
      </p:sp>
      <p:sp>
        <p:nvSpPr>
          <p:cNvPr id="11" name="Chip text Counter"/>
          <p:cNvSpPr txBox="1"/>
          <p:nvPr/>
        </p:nvSpPr>
        <p:spPr>
          <a:xfrm>
            <a:off x="4160520" y="2103120"/>
            <a:ext cx="2011680" cy="685800"/>
          </a:xfrm>
          <a:prstGeom prst="rect">
            <a:avLst/>
          </a:prstGeom>
          <a:noFill/>
          <a:ln/>
        </p:spPr>
        <p:txBody>
          <a:bodyPr wrap="square" lIns="0" tIns="0" rIns="0" bIns="0" rtlCol="0" anchor="ctr"/>
          <a:lstStyle/>
          <a:p>
            <a:pPr indent="0" marL="0">
              <a:buNone/>
            </a:pPr>
            <a:r>
              <a:rPr lang="en-US" sz="1400" b="1" dirty="0">
                <a:solidFill>
                  <a:schemeClr val="tx1"/>
                </a:solidFill>
              </a:rPr>
              <a:t>Counter</a:t>
            </a:r>
            <a:endParaRPr lang="en-US" sz="1400" dirty="0"/>
          </a:p>
          <a:p>
            <a:pPr indent="0" marL="0">
              <a:buNone/>
            </a:pPr>
            <a:r>
              <a:rPr lang="en-US" sz="1200" dirty="0">
                <a:solidFill>
                  <a:schemeClr val="tx1"/>
                </a:solidFill>
              </a:rPr>
              <a:t>Count status codes</a:t>
            </a:r>
            <a:endParaRPr lang="en-US" sz="1400" dirty="0"/>
          </a:p>
        </p:txBody>
      </p:sp>
      <p:sp>
        <p:nvSpPr>
          <p:cNvPr id="12" name="Chip statistics"/>
          <p:cNvSpPr/>
          <p:nvPr/>
        </p:nvSpPr>
        <p:spPr>
          <a:xfrm>
            <a:off x="6400800" y="2103120"/>
            <a:ext cx="2240280" cy="685800"/>
          </a:xfrm>
          <a:prstGeom prst="roundRect">
            <a:avLst>
              <a:gd name="adj" fmla="val 16000"/>
            </a:avLst>
          </a:prstGeom>
          <a:solidFill>
            <a:schemeClr val="bg2"/>
          </a:solidFill>
          <a:ln/>
        </p:spPr>
      </p:sp>
      <p:sp>
        <p:nvSpPr>
          <p:cNvPr id="13" name="Chip text statistics"/>
          <p:cNvSpPr txBox="1"/>
          <p:nvPr/>
        </p:nvSpPr>
        <p:spPr>
          <a:xfrm>
            <a:off x="6537960" y="2103120"/>
            <a:ext cx="2011680" cy="685800"/>
          </a:xfrm>
          <a:prstGeom prst="rect">
            <a:avLst/>
          </a:prstGeom>
          <a:noFill/>
          <a:ln/>
        </p:spPr>
        <p:txBody>
          <a:bodyPr wrap="square" lIns="0" tIns="0" rIns="0" bIns="0" rtlCol="0" anchor="ctr"/>
          <a:lstStyle/>
          <a:p>
            <a:pPr indent="0" marL="0">
              <a:buNone/>
            </a:pPr>
            <a:r>
              <a:rPr lang="en-US" sz="1400" b="1" dirty="0">
                <a:solidFill>
                  <a:schemeClr val="tx1"/>
                </a:solidFill>
              </a:rPr>
              <a:t>statistics</a:t>
            </a:r>
            <a:endParaRPr lang="en-US" sz="1400" dirty="0"/>
          </a:p>
          <a:p>
            <a:pPr indent="0" marL="0">
              <a:buNone/>
            </a:pPr>
            <a:r>
              <a:rPr lang="en-US" sz="1200" dirty="0">
                <a:solidFill>
                  <a:schemeClr val="tx1"/>
                </a:solidFill>
              </a:rPr>
              <a:t>Mean and median</a:t>
            </a:r>
            <a:endParaRPr lang="en-US" sz="1400" dirty="0"/>
          </a:p>
        </p:txBody>
      </p:sp>
      <p:sp>
        <p:nvSpPr>
          <p:cNvPr id="14" name="Chip csv and json"/>
          <p:cNvSpPr/>
          <p:nvPr/>
        </p:nvSpPr>
        <p:spPr>
          <a:xfrm>
            <a:off x="4023360" y="2926080"/>
            <a:ext cx="2240280" cy="685800"/>
          </a:xfrm>
          <a:prstGeom prst="roundRect">
            <a:avLst>
              <a:gd name="adj" fmla="val 16000"/>
            </a:avLst>
          </a:prstGeom>
          <a:solidFill>
            <a:schemeClr val="bg2"/>
          </a:solidFill>
          <a:ln/>
        </p:spPr>
      </p:sp>
      <p:sp>
        <p:nvSpPr>
          <p:cNvPr id="15" name="Chip text csv and json"/>
          <p:cNvSpPr txBox="1"/>
          <p:nvPr/>
        </p:nvSpPr>
        <p:spPr>
          <a:xfrm>
            <a:off x="4160520" y="2926080"/>
            <a:ext cx="2011680" cy="685800"/>
          </a:xfrm>
          <a:prstGeom prst="rect">
            <a:avLst/>
          </a:prstGeom>
          <a:noFill/>
          <a:ln/>
        </p:spPr>
        <p:txBody>
          <a:bodyPr wrap="square" lIns="0" tIns="0" rIns="0" bIns="0" rtlCol="0" anchor="ctr"/>
          <a:lstStyle/>
          <a:p>
            <a:pPr indent="0" marL="0">
              <a:buNone/>
            </a:pPr>
            <a:r>
              <a:rPr lang="en-US" sz="1400" b="1" dirty="0">
                <a:solidFill>
                  <a:schemeClr val="tx1"/>
                </a:solidFill>
              </a:rPr>
              <a:t>csv and json</a:t>
            </a:r>
            <a:endParaRPr lang="en-US" sz="1400" dirty="0"/>
          </a:p>
          <a:p>
            <a:pPr indent="0" marL="0">
              <a:buNone/>
            </a:pPr>
            <a:r>
              <a:rPr lang="en-US" sz="1200" dirty="0">
                <a:solidFill>
                  <a:schemeClr val="tx1"/>
                </a:solidFill>
              </a:rPr>
              <a:t>Save the reports</a:t>
            </a:r>
            <a:endParaRPr lang="en-US" sz="1400" dirty="0"/>
          </a:p>
        </p:txBody>
      </p:sp>
      <p:sp>
        <p:nvSpPr>
          <p:cNvPr id="16" name="Chip argparse"/>
          <p:cNvSpPr/>
          <p:nvPr/>
        </p:nvSpPr>
        <p:spPr>
          <a:xfrm>
            <a:off x="6400800" y="2926080"/>
            <a:ext cx="2240280" cy="685800"/>
          </a:xfrm>
          <a:prstGeom prst="roundRect">
            <a:avLst>
              <a:gd name="adj" fmla="val 16000"/>
            </a:avLst>
          </a:prstGeom>
          <a:solidFill>
            <a:schemeClr val="bg2"/>
          </a:solidFill>
          <a:ln/>
        </p:spPr>
      </p:sp>
      <p:sp>
        <p:nvSpPr>
          <p:cNvPr id="17" name="Chip text argparse"/>
          <p:cNvSpPr txBox="1"/>
          <p:nvPr/>
        </p:nvSpPr>
        <p:spPr>
          <a:xfrm>
            <a:off x="6537960" y="2926080"/>
            <a:ext cx="2011680" cy="685800"/>
          </a:xfrm>
          <a:prstGeom prst="rect">
            <a:avLst/>
          </a:prstGeom>
          <a:noFill/>
          <a:ln/>
        </p:spPr>
        <p:txBody>
          <a:bodyPr wrap="square" lIns="0" tIns="0" rIns="0" bIns="0" rtlCol="0" anchor="ctr"/>
          <a:lstStyle/>
          <a:p>
            <a:pPr indent="0" marL="0">
              <a:buNone/>
            </a:pPr>
            <a:r>
              <a:rPr lang="en-US" sz="1400" b="1" dirty="0">
                <a:solidFill>
                  <a:schemeClr val="tx1"/>
                </a:solidFill>
              </a:rPr>
              <a:t>argparse</a:t>
            </a:r>
            <a:endParaRPr lang="en-US" sz="1400" dirty="0"/>
          </a:p>
          <a:p>
            <a:pPr indent="0" marL="0">
              <a:buNone/>
            </a:pPr>
            <a:r>
              <a:rPr lang="en-US" sz="1200" dirty="0">
                <a:solidFill>
                  <a:schemeClr val="tx1"/>
                </a:solidFill>
              </a:rPr>
              <a:t>CLI options</a:t>
            </a:r>
            <a:endParaRPr lang="en-US" sz="1400" dirty="0"/>
          </a:p>
        </p:txBody>
      </p:sp>
      <p:sp>
        <p:nvSpPr>
          <p:cNvPr id="18" name="Chip SVG"/>
          <p:cNvSpPr/>
          <p:nvPr/>
        </p:nvSpPr>
        <p:spPr>
          <a:xfrm>
            <a:off x="4023360" y="3749040"/>
            <a:ext cx="2240280" cy="685800"/>
          </a:xfrm>
          <a:prstGeom prst="roundRect">
            <a:avLst>
              <a:gd name="adj" fmla="val 16000"/>
            </a:avLst>
          </a:prstGeom>
          <a:solidFill>
            <a:schemeClr val="bg2"/>
          </a:solidFill>
          <a:ln/>
        </p:spPr>
      </p:sp>
      <p:sp>
        <p:nvSpPr>
          <p:cNvPr id="19" name="Chip text SVG"/>
          <p:cNvSpPr txBox="1"/>
          <p:nvPr/>
        </p:nvSpPr>
        <p:spPr>
          <a:xfrm>
            <a:off x="4160520" y="3749040"/>
            <a:ext cx="2011680" cy="685800"/>
          </a:xfrm>
          <a:prstGeom prst="rect">
            <a:avLst/>
          </a:prstGeom>
          <a:noFill/>
          <a:ln/>
        </p:spPr>
        <p:txBody>
          <a:bodyPr wrap="square" lIns="0" tIns="0" rIns="0" bIns="0" rtlCol="0" anchor="ctr"/>
          <a:lstStyle/>
          <a:p>
            <a:pPr indent="0" marL="0">
              <a:buNone/>
            </a:pPr>
            <a:r>
              <a:rPr lang="en-US" sz="1400" b="1" dirty="0">
                <a:solidFill>
                  <a:schemeClr val="tx1"/>
                </a:solidFill>
              </a:rPr>
              <a:t>SVG</a:t>
            </a:r>
            <a:endParaRPr lang="en-US" sz="1400" dirty="0"/>
          </a:p>
          <a:p>
            <a:pPr indent="0" marL="0">
              <a:buNone/>
            </a:pPr>
            <a:r>
              <a:rPr lang="en-US" sz="1200" dirty="0">
                <a:solidFill>
                  <a:schemeClr val="tx1"/>
                </a:solidFill>
              </a:rPr>
              <a:t>Charts in the page</a:t>
            </a:r>
            <a:endParaRPr lang="en-US" sz="1400" dirty="0"/>
          </a:p>
        </p:txBody>
      </p:sp>
      <p:sp>
        <p:nvSpPr>
          <p:cNvPr id="20" name="Chip Flask"/>
          <p:cNvSpPr/>
          <p:nvPr/>
        </p:nvSpPr>
        <p:spPr>
          <a:xfrm>
            <a:off x="6400800" y="3749040"/>
            <a:ext cx="2240280" cy="685800"/>
          </a:xfrm>
          <a:prstGeom prst="roundRect">
            <a:avLst>
              <a:gd name="adj" fmla="val 16000"/>
            </a:avLst>
          </a:prstGeom>
          <a:solidFill>
            <a:schemeClr val="bg2"/>
          </a:solidFill>
          <a:ln/>
        </p:spPr>
      </p:sp>
      <p:sp>
        <p:nvSpPr>
          <p:cNvPr id="21" name="Chip text Flask"/>
          <p:cNvSpPr txBox="1"/>
          <p:nvPr/>
        </p:nvSpPr>
        <p:spPr>
          <a:xfrm>
            <a:off x="6537960" y="3749040"/>
            <a:ext cx="2011680" cy="685800"/>
          </a:xfrm>
          <a:prstGeom prst="rect">
            <a:avLst/>
          </a:prstGeom>
          <a:noFill/>
          <a:ln/>
        </p:spPr>
        <p:txBody>
          <a:bodyPr wrap="square" lIns="0" tIns="0" rIns="0" bIns="0" rtlCol="0" anchor="ctr"/>
          <a:lstStyle/>
          <a:p>
            <a:pPr indent="0" marL="0">
              <a:buNone/>
            </a:pPr>
            <a:r>
              <a:rPr lang="en-US" sz="1400" b="1" dirty="0">
                <a:solidFill>
                  <a:schemeClr val="tx1"/>
                </a:solidFill>
              </a:rPr>
              <a:t>Flask</a:t>
            </a:r>
            <a:endParaRPr lang="en-US" sz="1400" dirty="0"/>
          </a:p>
          <a:p>
            <a:pPr indent="0" marL="0">
              <a:buNone/>
            </a:pPr>
            <a:r>
              <a:rPr lang="en-US" sz="1200" dirty="0">
                <a:solidFill>
                  <a:schemeClr val="tx1"/>
                </a:solidFill>
              </a:rPr>
              <a:t>Website and upload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System Design</a:t>
            </a:r>
            <a:endParaRPr lang="en-US" sz="3600" dirty="0"/>
          </a:p>
        </p:txBody>
      </p:sp>
      <p:sp>
        <p:nvSpPr>
          <p:cNvPr id="3" name="Step card 1"/>
          <p:cNvSpPr/>
          <p:nvPr/>
        </p:nvSpPr>
        <p:spPr>
          <a:xfrm>
            <a:off x="457200" y="1371600"/>
            <a:ext cx="1828800" cy="2697480"/>
          </a:xfrm>
          <a:prstGeom prst="roundRect">
            <a:avLst>
              <a:gd name="adj" fmla="val 6000"/>
            </a:avLst>
          </a:prstGeom>
          <a:solidFill>
            <a:schemeClr val="bg2"/>
          </a:solidFill>
          <a:ln/>
        </p:spPr>
      </p:sp>
      <p:sp>
        <p:nvSpPr>
          <p:cNvPr id="4" name="Log file circle"/>
          <p:cNvSpPr/>
          <p:nvPr/>
        </p:nvSpPr>
        <p:spPr>
          <a:xfrm>
            <a:off x="685800" y="1600200"/>
            <a:ext cx="731520" cy="731520"/>
          </a:xfrm>
          <a:prstGeom prst="ellipse">
            <a:avLst/>
          </a:prstGeom>
          <a:solidFill>
            <a:schemeClr val="accent1"/>
          </a:solidFill>
          <a:ln/>
        </p:spPr>
      </p:sp>
      <p:pic>
        <p:nvPicPr>
          <p:cNvPr id="5" name="Log file icon" descr="Log file">    </p:cNvPr>
          <p:cNvPicPr>
            <a:picLocks noChangeAspect="1"/>
          </p:cNvPicPr>
          <p:nvPr/>
        </p:nvPicPr>
        <p:blipFill>
          <a:blip r:embed="rId1"/>
          <a:stretch>
            <a:fillRect/>
          </a:stretch>
        </p:blipFill>
        <p:spPr>
          <a:xfrm>
            <a:off x="868680" y="1783080"/>
            <a:ext cx="365760" cy="365760"/>
          </a:xfrm>
          <a:prstGeom prst="rect">
            <a:avLst/>
          </a:prstGeom>
        </p:spPr>
      </p:pic>
      <p:sp>
        <p:nvSpPr>
          <p:cNvPr id="6" name="Log file title"/>
          <p:cNvSpPr txBox="1"/>
          <p:nvPr/>
        </p:nvSpPr>
        <p:spPr>
          <a:xfrm>
            <a:off x="685800" y="2468880"/>
            <a:ext cx="1417320" cy="365760"/>
          </a:xfrm>
          <a:prstGeom prst="rect">
            <a:avLst/>
          </a:prstGeom>
          <a:noFill/>
          <a:ln/>
        </p:spPr>
        <p:txBody>
          <a:bodyPr wrap="square" lIns="0" tIns="0" rIns="0" bIns="0" rtlCol="0" anchor="ctr"/>
          <a:lstStyle/>
          <a:p>
            <a:pPr indent="0" marL="0">
              <a:buNone/>
            </a:pPr>
            <a:r>
              <a:rPr lang="en-US" sz="1800" b="1" dirty="0">
                <a:solidFill>
                  <a:schemeClr val="tx1"/>
                </a:solidFill>
              </a:rPr>
              <a:t>Log file</a:t>
            </a:r>
            <a:endParaRPr lang="en-US" sz="1800" dirty="0"/>
          </a:p>
        </p:txBody>
      </p:sp>
      <p:sp>
        <p:nvSpPr>
          <p:cNvPr id="7" name="Log file text"/>
          <p:cNvSpPr txBox="1"/>
          <p:nvPr/>
        </p:nvSpPr>
        <p:spPr>
          <a:xfrm>
            <a:off x="685800" y="2880360"/>
            <a:ext cx="1417320" cy="1051560"/>
          </a:xfrm>
          <a:prstGeom prst="rect">
            <a:avLst/>
          </a:prstGeom>
          <a:noFill/>
          <a:ln/>
        </p:spPr>
        <p:txBody>
          <a:bodyPr wrap="square" lIns="0" tIns="0" rIns="0" bIns="0" rtlCol="0" anchor="t"/>
          <a:lstStyle/>
          <a:p>
            <a:pPr indent="0" marL="0">
              <a:buNone/>
            </a:pPr>
            <a:r>
              <a:rPr lang="en-US" sz="1400" dirty="0">
                <a:solidFill>
                  <a:schemeClr val="tx1"/>
                </a:solidFill>
              </a:rPr>
              <a:t>api_health.log, or a file uploaded in the browser</a:t>
            </a:r>
            <a:endParaRPr lang="en-US" sz="1400" dirty="0"/>
          </a:p>
        </p:txBody>
      </p:sp>
      <p:pic>
        <p:nvPicPr>
          <p:cNvPr id="8" name="Arrow 1" descr="next step">    </p:cNvPr>
          <p:cNvPicPr>
            <a:picLocks noChangeAspect="1"/>
          </p:cNvPicPr>
          <p:nvPr/>
        </p:nvPicPr>
        <p:blipFill>
          <a:blip r:embed="rId2"/>
          <a:stretch>
            <a:fillRect/>
          </a:stretch>
        </p:blipFill>
        <p:spPr>
          <a:xfrm>
            <a:off x="2362170" y="2560320"/>
            <a:ext cx="152705" cy="152705"/>
          </a:xfrm>
          <a:prstGeom prst="rect">
            <a:avLst/>
          </a:prstGeom>
        </p:spPr>
      </p:pic>
      <p:sp>
        <p:nvSpPr>
          <p:cNvPr id="9" name="Step card 2"/>
          <p:cNvSpPr/>
          <p:nvPr/>
        </p:nvSpPr>
        <p:spPr>
          <a:xfrm>
            <a:off x="2590495" y="1371600"/>
            <a:ext cx="1828800" cy="2697480"/>
          </a:xfrm>
          <a:prstGeom prst="roundRect">
            <a:avLst>
              <a:gd name="adj" fmla="val 6000"/>
            </a:avLst>
          </a:prstGeom>
          <a:solidFill>
            <a:schemeClr val="bg2"/>
          </a:solidFill>
          <a:ln/>
        </p:spPr>
      </p:sp>
      <p:sp>
        <p:nvSpPr>
          <p:cNvPr id="10" name="Parse circle"/>
          <p:cNvSpPr/>
          <p:nvPr/>
        </p:nvSpPr>
        <p:spPr>
          <a:xfrm>
            <a:off x="2819095" y="1600200"/>
            <a:ext cx="731520" cy="731520"/>
          </a:xfrm>
          <a:prstGeom prst="ellipse">
            <a:avLst/>
          </a:prstGeom>
          <a:solidFill>
            <a:schemeClr val="accent1"/>
          </a:solidFill>
          <a:ln/>
        </p:spPr>
      </p:sp>
      <p:pic>
        <p:nvPicPr>
          <p:cNvPr id="11" name="Parse icon" descr="Parse">    </p:cNvPr>
          <p:cNvPicPr>
            <a:picLocks noChangeAspect="1"/>
          </p:cNvPicPr>
          <p:nvPr/>
        </p:nvPicPr>
        <p:blipFill>
          <a:blip r:embed="rId3"/>
          <a:stretch>
            <a:fillRect/>
          </a:stretch>
        </p:blipFill>
        <p:spPr>
          <a:xfrm>
            <a:off x="3001975" y="1783080"/>
            <a:ext cx="365760" cy="365760"/>
          </a:xfrm>
          <a:prstGeom prst="rect">
            <a:avLst/>
          </a:prstGeom>
        </p:spPr>
      </p:pic>
      <p:sp>
        <p:nvSpPr>
          <p:cNvPr id="12" name="Parse title"/>
          <p:cNvSpPr txBox="1"/>
          <p:nvPr/>
        </p:nvSpPr>
        <p:spPr>
          <a:xfrm>
            <a:off x="2819095" y="2468880"/>
            <a:ext cx="1417320" cy="365760"/>
          </a:xfrm>
          <a:prstGeom prst="rect">
            <a:avLst/>
          </a:prstGeom>
          <a:noFill/>
          <a:ln/>
        </p:spPr>
        <p:txBody>
          <a:bodyPr wrap="square" lIns="0" tIns="0" rIns="0" bIns="0" rtlCol="0" anchor="ctr"/>
          <a:lstStyle/>
          <a:p>
            <a:pPr indent="0" marL="0">
              <a:buNone/>
            </a:pPr>
            <a:r>
              <a:rPr lang="en-US" sz="1800" b="1" dirty="0">
                <a:solidFill>
                  <a:schemeClr val="tx1"/>
                </a:solidFill>
              </a:rPr>
              <a:t>Parse</a:t>
            </a:r>
            <a:endParaRPr lang="en-US" sz="1800" dirty="0"/>
          </a:p>
        </p:txBody>
      </p:sp>
      <p:sp>
        <p:nvSpPr>
          <p:cNvPr id="13" name="Parse text"/>
          <p:cNvSpPr txBox="1"/>
          <p:nvPr/>
        </p:nvSpPr>
        <p:spPr>
          <a:xfrm>
            <a:off x="2819095" y="2880360"/>
            <a:ext cx="1417320" cy="1051560"/>
          </a:xfrm>
          <a:prstGeom prst="rect">
            <a:avLst/>
          </a:prstGeom>
          <a:noFill/>
          <a:ln/>
        </p:spPr>
        <p:txBody>
          <a:bodyPr wrap="square" lIns="0" tIns="0" rIns="0" bIns="0" rtlCol="0" anchor="t"/>
          <a:lstStyle/>
          <a:p>
            <a:pPr indent="0" marL="0">
              <a:buNone/>
            </a:pPr>
            <a:r>
              <a:rPr lang="en-US" sz="1400" dirty="0">
                <a:solidFill>
                  <a:schemeClr val="tx1"/>
                </a:solidFill>
              </a:rPr>
              <a:t>Regex splits each line into fields</a:t>
            </a:r>
            <a:endParaRPr lang="en-US" sz="1400" dirty="0"/>
          </a:p>
        </p:txBody>
      </p:sp>
      <p:pic>
        <p:nvPicPr>
          <p:cNvPr id="14" name="Arrow 2" descr="next step">    </p:cNvPr>
          <p:cNvPicPr>
            <a:picLocks noChangeAspect="1"/>
          </p:cNvPicPr>
          <p:nvPr/>
        </p:nvPicPr>
        <p:blipFill>
          <a:blip r:embed="rId4"/>
          <a:stretch>
            <a:fillRect/>
          </a:stretch>
        </p:blipFill>
        <p:spPr>
          <a:xfrm>
            <a:off x="4495465" y="2560320"/>
            <a:ext cx="152705" cy="152705"/>
          </a:xfrm>
          <a:prstGeom prst="rect">
            <a:avLst/>
          </a:prstGeom>
        </p:spPr>
      </p:pic>
      <p:sp>
        <p:nvSpPr>
          <p:cNvPr id="15" name="Step card 3"/>
          <p:cNvSpPr/>
          <p:nvPr/>
        </p:nvSpPr>
        <p:spPr>
          <a:xfrm>
            <a:off x="4723790" y="1371600"/>
            <a:ext cx="1828800" cy="2697480"/>
          </a:xfrm>
          <a:prstGeom prst="roundRect">
            <a:avLst>
              <a:gd name="adj" fmla="val 6000"/>
            </a:avLst>
          </a:prstGeom>
          <a:solidFill>
            <a:schemeClr val="bg2"/>
          </a:solidFill>
          <a:ln/>
        </p:spPr>
      </p:sp>
      <p:sp>
        <p:nvSpPr>
          <p:cNvPr id="16" name="Analyze circle"/>
          <p:cNvSpPr/>
          <p:nvPr/>
        </p:nvSpPr>
        <p:spPr>
          <a:xfrm>
            <a:off x="4952390" y="1600200"/>
            <a:ext cx="731520" cy="731520"/>
          </a:xfrm>
          <a:prstGeom prst="ellipse">
            <a:avLst/>
          </a:prstGeom>
          <a:solidFill>
            <a:schemeClr val="accent1"/>
          </a:solidFill>
          <a:ln/>
        </p:spPr>
      </p:sp>
      <p:pic>
        <p:nvPicPr>
          <p:cNvPr id="17" name="Analyze icon" descr="Analyze">    </p:cNvPr>
          <p:cNvPicPr>
            <a:picLocks noChangeAspect="1"/>
          </p:cNvPicPr>
          <p:nvPr/>
        </p:nvPicPr>
        <p:blipFill>
          <a:blip r:embed="rId5"/>
          <a:stretch>
            <a:fillRect/>
          </a:stretch>
        </p:blipFill>
        <p:spPr>
          <a:xfrm>
            <a:off x="5135270" y="1783080"/>
            <a:ext cx="365760" cy="365760"/>
          </a:xfrm>
          <a:prstGeom prst="rect">
            <a:avLst/>
          </a:prstGeom>
        </p:spPr>
      </p:pic>
      <p:sp>
        <p:nvSpPr>
          <p:cNvPr id="18" name="Analyze title"/>
          <p:cNvSpPr txBox="1"/>
          <p:nvPr/>
        </p:nvSpPr>
        <p:spPr>
          <a:xfrm>
            <a:off x="4952390" y="2468880"/>
            <a:ext cx="1417320" cy="365760"/>
          </a:xfrm>
          <a:prstGeom prst="rect">
            <a:avLst/>
          </a:prstGeom>
          <a:noFill/>
          <a:ln/>
        </p:spPr>
        <p:txBody>
          <a:bodyPr wrap="square" lIns="0" tIns="0" rIns="0" bIns="0" rtlCol="0" anchor="ctr"/>
          <a:lstStyle/>
          <a:p>
            <a:pPr indent="0" marL="0">
              <a:buNone/>
            </a:pPr>
            <a:r>
              <a:rPr lang="en-US" sz="1800" b="1" dirty="0">
                <a:solidFill>
                  <a:schemeClr val="tx1"/>
                </a:solidFill>
              </a:rPr>
              <a:t>Analyze</a:t>
            </a:r>
            <a:endParaRPr lang="en-US" sz="1800" dirty="0"/>
          </a:p>
        </p:txBody>
      </p:sp>
      <p:sp>
        <p:nvSpPr>
          <p:cNvPr id="19" name="Analyze text"/>
          <p:cNvSpPr txBox="1"/>
          <p:nvPr/>
        </p:nvSpPr>
        <p:spPr>
          <a:xfrm>
            <a:off x="4952390" y="2880360"/>
            <a:ext cx="1417320" cy="1051560"/>
          </a:xfrm>
          <a:prstGeom prst="rect">
            <a:avLst/>
          </a:prstGeom>
          <a:noFill/>
          <a:ln/>
        </p:spPr>
        <p:txBody>
          <a:bodyPr wrap="square" lIns="0" tIns="0" rIns="0" bIns="0" rtlCol="0" anchor="t"/>
          <a:lstStyle/>
          <a:p>
            <a:pPr indent="0" marL="0">
              <a:buNone/>
            </a:pPr>
            <a:r>
              <a:rPr lang="en-US" sz="1400" dirty="0">
                <a:solidFill>
                  <a:schemeClr val="tx1"/>
                </a:solidFill>
              </a:rPr>
              <a:t>Per-endpoint rates and response times</a:t>
            </a:r>
            <a:endParaRPr lang="en-US" sz="1400" dirty="0"/>
          </a:p>
        </p:txBody>
      </p:sp>
      <p:pic>
        <p:nvPicPr>
          <p:cNvPr id="20" name="Arrow 3" descr="next step">    </p:cNvPr>
          <p:cNvPicPr>
            <a:picLocks noChangeAspect="1"/>
          </p:cNvPicPr>
          <p:nvPr/>
        </p:nvPicPr>
        <p:blipFill>
          <a:blip r:embed="rId6"/>
          <a:stretch>
            <a:fillRect/>
          </a:stretch>
        </p:blipFill>
        <p:spPr>
          <a:xfrm>
            <a:off x="6628760" y="2560320"/>
            <a:ext cx="152705" cy="152705"/>
          </a:xfrm>
          <a:prstGeom prst="rect">
            <a:avLst/>
          </a:prstGeom>
        </p:spPr>
      </p:pic>
      <p:sp>
        <p:nvSpPr>
          <p:cNvPr id="21" name="Step card 4"/>
          <p:cNvSpPr/>
          <p:nvPr/>
        </p:nvSpPr>
        <p:spPr>
          <a:xfrm>
            <a:off x="6857086" y="1371600"/>
            <a:ext cx="1828800" cy="2697480"/>
          </a:xfrm>
          <a:prstGeom prst="roundRect">
            <a:avLst>
              <a:gd name="adj" fmla="val 6000"/>
            </a:avLst>
          </a:prstGeom>
          <a:solidFill>
            <a:schemeClr val="bg2"/>
          </a:solidFill>
          <a:ln/>
        </p:spPr>
      </p:sp>
      <p:sp>
        <p:nvSpPr>
          <p:cNvPr id="22" name="Report circle"/>
          <p:cNvSpPr/>
          <p:nvPr/>
        </p:nvSpPr>
        <p:spPr>
          <a:xfrm>
            <a:off x="7085686" y="1600200"/>
            <a:ext cx="731520" cy="731520"/>
          </a:xfrm>
          <a:prstGeom prst="ellipse">
            <a:avLst/>
          </a:prstGeom>
          <a:solidFill>
            <a:schemeClr val="accent1"/>
          </a:solidFill>
          <a:ln/>
        </p:spPr>
      </p:sp>
      <p:pic>
        <p:nvPicPr>
          <p:cNvPr id="23" name="Report icon" descr="Report">    </p:cNvPr>
          <p:cNvPicPr>
            <a:picLocks noChangeAspect="1"/>
          </p:cNvPicPr>
          <p:nvPr/>
        </p:nvPicPr>
        <p:blipFill>
          <a:blip r:embed="rId7"/>
          <a:stretch>
            <a:fillRect/>
          </a:stretch>
        </p:blipFill>
        <p:spPr>
          <a:xfrm>
            <a:off x="7268566" y="1783080"/>
            <a:ext cx="365760" cy="365760"/>
          </a:xfrm>
          <a:prstGeom prst="rect">
            <a:avLst/>
          </a:prstGeom>
        </p:spPr>
      </p:pic>
      <p:sp>
        <p:nvSpPr>
          <p:cNvPr id="24" name="Report title"/>
          <p:cNvSpPr txBox="1"/>
          <p:nvPr/>
        </p:nvSpPr>
        <p:spPr>
          <a:xfrm>
            <a:off x="7085686" y="2468880"/>
            <a:ext cx="1417320" cy="365760"/>
          </a:xfrm>
          <a:prstGeom prst="rect">
            <a:avLst/>
          </a:prstGeom>
          <a:noFill/>
          <a:ln/>
        </p:spPr>
        <p:txBody>
          <a:bodyPr wrap="square" lIns="0" tIns="0" rIns="0" bIns="0" rtlCol="0" anchor="ctr"/>
          <a:lstStyle/>
          <a:p>
            <a:pPr indent="0" marL="0">
              <a:buNone/>
            </a:pPr>
            <a:r>
              <a:rPr lang="en-US" sz="1800" b="1" dirty="0">
                <a:solidFill>
                  <a:schemeClr val="tx1"/>
                </a:solidFill>
              </a:rPr>
              <a:t>Report</a:t>
            </a:r>
            <a:endParaRPr lang="en-US" sz="1800" dirty="0"/>
          </a:p>
        </p:txBody>
      </p:sp>
      <p:sp>
        <p:nvSpPr>
          <p:cNvPr id="25" name="Report text"/>
          <p:cNvSpPr txBox="1"/>
          <p:nvPr/>
        </p:nvSpPr>
        <p:spPr>
          <a:xfrm>
            <a:off x="7085686" y="2880360"/>
            <a:ext cx="1417320" cy="1051560"/>
          </a:xfrm>
          <a:prstGeom prst="rect">
            <a:avLst/>
          </a:prstGeom>
          <a:noFill/>
          <a:ln/>
        </p:spPr>
        <p:txBody>
          <a:bodyPr wrap="square" lIns="0" tIns="0" rIns="0" bIns="0" rtlCol="0" anchor="t"/>
          <a:lstStyle/>
          <a:p>
            <a:pPr indent="0" marL="0">
              <a:buNone/>
            </a:pPr>
            <a:r>
              <a:rPr lang="en-US" sz="1400" dirty="0">
                <a:solidFill>
                  <a:schemeClr val="tx1"/>
                </a:solidFill>
              </a:rPr>
              <a:t>Console, JSON and CSV files, and the dashboard page</a:t>
            </a:r>
            <a:endParaRPr lang="en-US" sz="1400" dirty="0"/>
          </a:p>
        </p:txBody>
      </p:sp>
      <p:sp>
        <p:nvSpPr>
          <p:cNvPr id="26" name="Flow caption"/>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400" dirty="0">
                <a:solidFill>
                  <a:schemeClr val="accent5"/>
                </a:solidFill>
              </a:rPr>
              <a:t>One analysis code serves both the command line (log_analyzer.py) and the website (app.py)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Data and Health Rules</a:t>
            </a:r>
            <a:endParaRPr lang="en-US" sz="3600" dirty="0"/>
          </a:p>
        </p:txBody>
      </p:sp>
      <p:sp>
        <p:nvSpPr>
          <p:cNvPr id="3" name="Log panel"/>
          <p:cNvSpPr/>
          <p:nvPr/>
        </p:nvSpPr>
        <p:spPr>
          <a:xfrm>
            <a:off x="457200" y="1280160"/>
            <a:ext cx="4206240" cy="3200400"/>
          </a:xfrm>
          <a:prstGeom prst="roundRect">
            <a:avLst>
              <a:gd name="adj" fmla="val 3429"/>
            </a:avLst>
          </a:prstGeom>
          <a:solidFill>
            <a:schemeClr val="tx1"/>
          </a:solidFill>
          <a:ln/>
        </p:spPr>
      </p:sp>
      <p:sp>
        <p:nvSpPr>
          <p:cNvPr id="4" name="Log panel heading"/>
          <p:cNvSpPr txBox="1"/>
          <p:nvPr/>
        </p:nvSpPr>
        <p:spPr>
          <a:xfrm>
            <a:off x="731520" y="1463040"/>
            <a:ext cx="3657600" cy="365760"/>
          </a:xfrm>
          <a:prstGeom prst="rect">
            <a:avLst/>
          </a:prstGeom>
          <a:noFill/>
          <a:ln/>
        </p:spPr>
        <p:txBody>
          <a:bodyPr wrap="square" lIns="0" tIns="0" rIns="0" bIns="0" rtlCol="0" anchor="ctr"/>
          <a:lstStyle/>
          <a:p>
            <a:pPr indent="0" marL="0">
              <a:buNone/>
            </a:pPr>
            <a:r>
              <a:rPr lang="en-US" sz="1600" b="1" dirty="0">
                <a:solidFill>
                  <a:schemeClr val="bg1"/>
                </a:solidFill>
              </a:rPr>
              <a:t>One log line has 5 fields</a:t>
            </a:r>
            <a:endParaRPr lang="en-US" sz="1600" dirty="0"/>
          </a:p>
        </p:txBody>
      </p:sp>
      <p:sp>
        <p:nvSpPr>
          <p:cNvPr id="5" name="Date and time label"/>
          <p:cNvSpPr txBox="1"/>
          <p:nvPr/>
        </p:nvSpPr>
        <p:spPr>
          <a:xfrm>
            <a:off x="731520" y="1965960"/>
            <a:ext cx="1463040" cy="365760"/>
          </a:xfrm>
          <a:prstGeom prst="rect">
            <a:avLst/>
          </a:prstGeom>
          <a:noFill/>
          <a:ln/>
        </p:spPr>
        <p:txBody>
          <a:bodyPr wrap="square" lIns="0" tIns="0" rIns="0" bIns="0" rtlCol="0" anchor="ctr"/>
          <a:lstStyle/>
          <a:p>
            <a:pPr indent="0" marL="0">
              <a:buNone/>
            </a:pPr>
            <a:r>
              <a:rPr lang="en-US" sz="1400" dirty="0">
                <a:solidFill>
                  <a:schemeClr val="accent6"/>
                </a:solidFill>
              </a:rPr>
              <a:t>Date and time</a:t>
            </a:r>
            <a:endParaRPr lang="en-US" sz="1400" dirty="0"/>
          </a:p>
        </p:txBody>
      </p:sp>
      <p:sp>
        <p:nvSpPr>
          <p:cNvPr id="6" name="Date and time value"/>
          <p:cNvSpPr txBox="1"/>
          <p:nvPr/>
        </p:nvSpPr>
        <p:spPr>
          <a:xfrm>
            <a:off x="2286000" y="1965960"/>
            <a:ext cx="2194560" cy="36576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2026-10-03 08:00:12</a:t>
            </a:r>
            <a:endParaRPr lang="en-US" sz="1400" dirty="0"/>
          </a:p>
        </p:txBody>
      </p:sp>
      <p:sp>
        <p:nvSpPr>
          <p:cNvPr id="7" name="Method label"/>
          <p:cNvSpPr txBox="1"/>
          <p:nvPr/>
        </p:nvSpPr>
        <p:spPr>
          <a:xfrm>
            <a:off x="731520" y="2441448"/>
            <a:ext cx="1463040" cy="365760"/>
          </a:xfrm>
          <a:prstGeom prst="rect">
            <a:avLst/>
          </a:prstGeom>
          <a:noFill/>
          <a:ln/>
        </p:spPr>
        <p:txBody>
          <a:bodyPr wrap="square" lIns="0" tIns="0" rIns="0" bIns="0" rtlCol="0" anchor="ctr"/>
          <a:lstStyle/>
          <a:p>
            <a:pPr indent="0" marL="0">
              <a:buNone/>
            </a:pPr>
            <a:r>
              <a:rPr lang="en-US" sz="1400" dirty="0">
                <a:solidFill>
                  <a:schemeClr val="accent6"/>
                </a:solidFill>
              </a:rPr>
              <a:t>Method</a:t>
            </a:r>
            <a:endParaRPr lang="en-US" sz="1400" dirty="0"/>
          </a:p>
        </p:txBody>
      </p:sp>
      <p:sp>
        <p:nvSpPr>
          <p:cNvPr id="8" name="Method value"/>
          <p:cNvSpPr txBox="1"/>
          <p:nvPr/>
        </p:nvSpPr>
        <p:spPr>
          <a:xfrm>
            <a:off x="2286000" y="2441448"/>
            <a:ext cx="2194560" cy="36576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GET</a:t>
            </a:r>
            <a:endParaRPr lang="en-US" sz="1400" dirty="0"/>
          </a:p>
        </p:txBody>
      </p:sp>
      <p:sp>
        <p:nvSpPr>
          <p:cNvPr id="9" name="Endpoint label"/>
          <p:cNvSpPr txBox="1"/>
          <p:nvPr/>
        </p:nvSpPr>
        <p:spPr>
          <a:xfrm>
            <a:off x="731520" y="2916936"/>
            <a:ext cx="1463040" cy="365760"/>
          </a:xfrm>
          <a:prstGeom prst="rect">
            <a:avLst/>
          </a:prstGeom>
          <a:noFill/>
          <a:ln/>
        </p:spPr>
        <p:txBody>
          <a:bodyPr wrap="square" lIns="0" tIns="0" rIns="0" bIns="0" rtlCol="0" anchor="ctr"/>
          <a:lstStyle/>
          <a:p>
            <a:pPr indent="0" marL="0">
              <a:buNone/>
            </a:pPr>
            <a:r>
              <a:rPr lang="en-US" sz="1400" dirty="0">
                <a:solidFill>
                  <a:schemeClr val="accent6"/>
                </a:solidFill>
              </a:rPr>
              <a:t>Endpoint</a:t>
            </a:r>
            <a:endParaRPr lang="en-US" sz="1400" dirty="0"/>
          </a:p>
        </p:txBody>
      </p:sp>
      <p:sp>
        <p:nvSpPr>
          <p:cNvPr id="10" name="Endpoint value"/>
          <p:cNvSpPr txBox="1"/>
          <p:nvPr/>
        </p:nvSpPr>
        <p:spPr>
          <a:xfrm>
            <a:off x="2286000" y="2916936"/>
            <a:ext cx="2194560" cy="36576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/api/users</a:t>
            </a:r>
            <a:endParaRPr lang="en-US" sz="1400" dirty="0"/>
          </a:p>
        </p:txBody>
      </p:sp>
      <p:sp>
        <p:nvSpPr>
          <p:cNvPr id="11" name="Status code label"/>
          <p:cNvSpPr txBox="1"/>
          <p:nvPr/>
        </p:nvSpPr>
        <p:spPr>
          <a:xfrm>
            <a:off x="731520" y="3392424"/>
            <a:ext cx="1463040" cy="365760"/>
          </a:xfrm>
          <a:prstGeom prst="rect">
            <a:avLst/>
          </a:prstGeom>
          <a:noFill/>
          <a:ln/>
        </p:spPr>
        <p:txBody>
          <a:bodyPr wrap="square" lIns="0" tIns="0" rIns="0" bIns="0" rtlCol="0" anchor="ctr"/>
          <a:lstStyle/>
          <a:p>
            <a:pPr indent="0" marL="0">
              <a:buNone/>
            </a:pPr>
            <a:r>
              <a:rPr lang="en-US" sz="1400" dirty="0">
                <a:solidFill>
                  <a:schemeClr val="accent6"/>
                </a:solidFill>
              </a:rPr>
              <a:t>Status code</a:t>
            </a:r>
            <a:endParaRPr lang="en-US" sz="1400" dirty="0"/>
          </a:p>
        </p:txBody>
      </p:sp>
      <p:sp>
        <p:nvSpPr>
          <p:cNvPr id="12" name="Status code value"/>
          <p:cNvSpPr txBox="1"/>
          <p:nvPr/>
        </p:nvSpPr>
        <p:spPr>
          <a:xfrm>
            <a:off x="2286000" y="3392424"/>
            <a:ext cx="2194560" cy="36576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200</a:t>
            </a:r>
            <a:endParaRPr lang="en-US" sz="1400" dirty="0"/>
          </a:p>
        </p:txBody>
      </p:sp>
      <p:sp>
        <p:nvSpPr>
          <p:cNvPr id="13" name="Response (ms) label"/>
          <p:cNvSpPr txBox="1"/>
          <p:nvPr/>
        </p:nvSpPr>
        <p:spPr>
          <a:xfrm>
            <a:off x="731520" y="3867912"/>
            <a:ext cx="1463040" cy="365760"/>
          </a:xfrm>
          <a:prstGeom prst="rect">
            <a:avLst/>
          </a:prstGeom>
          <a:noFill/>
          <a:ln/>
        </p:spPr>
        <p:txBody>
          <a:bodyPr wrap="square" lIns="0" tIns="0" rIns="0" bIns="0" rtlCol="0" anchor="ctr"/>
          <a:lstStyle/>
          <a:p>
            <a:pPr indent="0" marL="0">
              <a:buNone/>
            </a:pPr>
            <a:r>
              <a:rPr lang="en-US" sz="1400" dirty="0">
                <a:solidFill>
                  <a:schemeClr val="accent6"/>
                </a:solidFill>
              </a:rPr>
              <a:t>Response (ms)</a:t>
            </a:r>
            <a:endParaRPr lang="en-US" sz="1400" dirty="0"/>
          </a:p>
        </p:txBody>
      </p:sp>
      <p:sp>
        <p:nvSpPr>
          <p:cNvPr id="14" name="Response (ms) value"/>
          <p:cNvSpPr txBox="1"/>
          <p:nvPr/>
        </p:nvSpPr>
        <p:spPr>
          <a:xfrm>
            <a:off x="2286000" y="3867912"/>
            <a:ext cx="2194560" cy="36576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120</a:t>
            </a:r>
            <a:endParaRPr lang="en-US" sz="1400" dirty="0"/>
          </a:p>
        </p:txBody>
      </p:sp>
      <p:sp>
        <p:nvSpPr>
          <p:cNvPr id="15" name="CRITICAL circle"/>
          <p:cNvSpPr/>
          <p:nvPr/>
        </p:nvSpPr>
        <p:spPr>
          <a:xfrm>
            <a:off x="4983480" y="1371600"/>
            <a:ext cx="685800" cy="685800"/>
          </a:xfrm>
          <a:prstGeom prst="ellipse">
            <a:avLst/>
          </a:prstGeom>
          <a:solidFill>
            <a:schemeClr val="accent3"/>
          </a:solidFill>
          <a:ln/>
        </p:spPr>
      </p:sp>
      <p:pic>
        <p:nvPicPr>
          <p:cNvPr id="16" name="CRITICAL icon" descr="CRITICAL">    </p:cNvPr>
          <p:cNvPicPr>
            <a:picLocks noChangeAspect="1"/>
          </p:cNvPicPr>
          <p:nvPr/>
        </p:nvPicPr>
        <p:blipFill>
          <a:blip r:embed="rId1"/>
          <a:stretch>
            <a:fillRect/>
          </a:stretch>
        </p:blipFill>
        <p:spPr>
          <a:xfrm>
            <a:off x="5154930" y="1543050"/>
            <a:ext cx="342900" cy="342900"/>
          </a:xfrm>
          <a:prstGeom prst="rect">
            <a:avLst/>
          </a:prstGeom>
        </p:spPr>
      </p:pic>
      <p:sp>
        <p:nvSpPr>
          <p:cNvPr id="17" name="CRITICAL rule"/>
          <p:cNvSpPr txBox="1"/>
          <p:nvPr/>
        </p:nvSpPr>
        <p:spPr>
          <a:xfrm>
            <a:off x="5852160" y="1280160"/>
            <a:ext cx="2834640" cy="868680"/>
          </a:xfrm>
          <a:prstGeom prst="rect">
            <a:avLst/>
          </a:prstGeom>
          <a:noFill/>
          <a:ln/>
        </p:spPr>
        <p:txBody>
          <a:bodyPr wrap="square" lIns="0" tIns="0" rIns="0" bIns="0" rtlCol="0" anchor="ctr"/>
          <a:lstStyle/>
          <a:p>
            <a:pPr indent="0" marL="0">
              <a:buNone/>
            </a:pPr>
            <a:r>
              <a:rPr lang="en-US" sz="1800" b="1" dirty="0">
                <a:solidFill>
                  <a:schemeClr val="tx1"/>
                </a:solidFill>
              </a:rPr>
              <a:t>CRITICAL</a:t>
            </a:r>
            <a:endParaRPr lang="en-US" sz="1800" dirty="0"/>
          </a:p>
          <a:p>
            <a:pPr indent="0" marL="0">
              <a:buNone/>
            </a:pPr>
            <a:r>
              <a:rPr lang="en-US" sz="1400" dirty="0">
                <a:solidFill>
                  <a:schemeClr val="tx1"/>
                </a:solidFill>
              </a:rPr>
              <a:t>Errors &gt; 15% or average &gt; 1500 ms</a:t>
            </a:r>
            <a:endParaRPr lang="en-US" sz="1800" dirty="0"/>
          </a:p>
        </p:txBody>
      </p:sp>
      <p:sp>
        <p:nvSpPr>
          <p:cNvPr id="18" name="DEGRADED circle"/>
          <p:cNvSpPr/>
          <p:nvPr/>
        </p:nvSpPr>
        <p:spPr>
          <a:xfrm>
            <a:off x="4983480" y="2423160"/>
            <a:ext cx="685800" cy="685800"/>
          </a:xfrm>
          <a:prstGeom prst="ellipse">
            <a:avLst/>
          </a:prstGeom>
          <a:solidFill>
            <a:schemeClr val="accent2"/>
          </a:solidFill>
          <a:ln/>
        </p:spPr>
      </p:sp>
      <p:pic>
        <p:nvPicPr>
          <p:cNvPr id="19" name="DEGRADED icon" descr="DEGRADED">    </p:cNvPr>
          <p:cNvPicPr>
            <a:picLocks noChangeAspect="1"/>
          </p:cNvPicPr>
          <p:nvPr/>
        </p:nvPicPr>
        <p:blipFill>
          <a:blip r:embed="rId2"/>
          <a:stretch>
            <a:fillRect/>
          </a:stretch>
        </p:blipFill>
        <p:spPr>
          <a:xfrm>
            <a:off x="5154930" y="2594610"/>
            <a:ext cx="342900" cy="342900"/>
          </a:xfrm>
          <a:prstGeom prst="rect">
            <a:avLst/>
          </a:prstGeom>
        </p:spPr>
      </p:pic>
      <p:sp>
        <p:nvSpPr>
          <p:cNvPr id="20" name="DEGRADED rule"/>
          <p:cNvSpPr txBox="1"/>
          <p:nvPr/>
        </p:nvSpPr>
        <p:spPr>
          <a:xfrm>
            <a:off x="5852160" y="2331720"/>
            <a:ext cx="2834640" cy="868680"/>
          </a:xfrm>
          <a:prstGeom prst="rect">
            <a:avLst/>
          </a:prstGeom>
          <a:noFill/>
          <a:ln/>
        </p:spPr>
        <p:txBody>
          <a:bodyPr wrap="square" lIns="0" tIns="0" rIns="0" bIns="0" rtlCol="0" anchor="ctr"/>
          <a:lstStyle/>
          <a:p>
            <a:pPr indent="0" marL="0">
              <a:buNone/>
            </a:pPr>
            <a:r>
              <a:rPr lang="en-US" sz="1800" b="1" dirty="0">
                <a:solidFill>
                  <a:schemeClr val="tx1"/>
                </a:solidFill>
              </a:rPr>
              <a:t>DEGRADED</a:t>
            </a:r>
            <a:endParaRPr lang="en-US" sz="1800" dirty="0"/>
          </a:p>
          <a:p>
            <a:pPr indent="0" marL="0">
              <a:buNone/>
            </a:pPr>
            <a:r>
              <a:rPr lang="en-US" sz="1400" dirty="0">
                <a:solidFill>
                  <a:schemeClr val="tx1"/>
                </a:solidFill>
              </a:rPr>
              <a:t>Errors &gt; 5% or average &gt; 600 ms</a:t>
            </a:r>
            <a:endParaRPr lang="en-US" sz="1800" dirty="0"/>
          </a:p>
        </p:txBody>
      </p:sp>
      <p:sp>
        <p:nvSpPr>
          <p:cNvPr id="21" name="HEALTHY circle"/>
          <p:cNvSpPr/>
          <p:nvPr/>
        </p:nvSpPr>
        <p:spPr>
          <a:xfrm>
            <a:off x="4983480" y="3474720"/>
            <a:ext cx="685800" cy="685800"/>
          </a:xfrm>
          <a:prstGeom prst="ellipse">
            <a:avLst/>
          </a:prstGeom>
          <a:solidFill>
            <a:schemeClr val="accent4"/>
          </a:solidFill>
          <a:ln/>
        </p:spPr>
      </p:sp>
      <p:pic>
        <p:nvPicPr>
          <p:cNvPr id="22" name="HEALTHY icon" descr="HEALTHY">    </p:cNvPr>
          <p:cNvPicPr>
            <a:picLocks noChangeAspect="1"/>
          </p:cNvPicPr>
          <p:nvPr/>
        </p:nvPicPr>
        <p:blipFill>
          <a:blip r:embed="rId3"/>
          <a:stretch>
            <a:fillRect/>
          </a:stretch>
        </p:blipFill>
        <p:spPr>
          <a:xfrm>
            <a:off x="5154930" y="3646170"/>
            <a:ext cx="342900" cy="342900"/>
          </a:xfrm>
          <a:prstGeom prst="rect">
            <a:avLst/>
          </a:prstGeom>
        </p:spPr>
      </p:pic>
      <p:sp>
        <p:nvSpPr>
          <p:cNvPr id="23" name="HEALTHY rule"/>
          <p:cNvSpPr txBox="1"/>
          <p:nvPr/>
        </p:nvSpPr>
        <p:spPr>
          <a:xfrm>
            <a:off x="5852160" y="3383280"/>
            <a:ext cx="2834640" cy="868680"/>
          </a:xfrm>
          <a:prstGeom prst="rect">
            <a:avLst/>
          </a:prstGeom>
          <a:noFill/>
          <a:ln/>
        </p:spPr>
        <p:txBody>
          <a:bodyPr wrap="square" lIns="0" tIns="0" rIns="0" bIns="0" rtlCol="0" anchor="ctr"/>
          <a:lstStyle/>
          <a:p>
            <a:pPr indent="0" marL="0">
              <a:buNone/>
            </a:pPr>
            <a:r>
              <a:rPr lang="en-US" sz="1800" b="1" dirty="0">
                <a:solidFill>
                  <a:schemeClr val="tx1"/>
                </a:solidFill>
              </a:rPr>
              <a:t>HEALTHY</a:t>
            </a:r>
            <a:endParaRPr lang="en-US" sz="1800" dirty="0"/>
          </a:p>
          <a:p>
            <a:pPr indent="0" marL="0">
              <a:buNone/>
            </a:pPr>
            <a:r>
              <a:rPr lang="en-US" sz="1400" dirty="0">
                <a:solidFill>
                  <a:schemeClr val="tx1"/>
                </a:solidFill>
              </a:rPr>
              <a:t>Errors &lt;= 5% and average &lt;= 600 ms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Source Code Highlights</a:t>
            </a:r>
            <a:endParaRPr lang="en-US" sz="3600" dirty="0"/>
          </a:p>
        </p:txBody>
      </p:sp>
      <p:sp>
        <p:nvSpPr>
          <p:cNvPr id="3" name="Code panel"/>
          <p:cNvSpPr/>
          <p:nvPr/>
        </p:nvSpPr>
        <p:spPr>
          <a:xfrm>
            <a:off x="457200" y="1280160"/>
            <a:ext cx="4846320" cy="3200400"/>
          </a:xfrm>
          <a:prstGeom prst="roundRect">
            <a:avLst>
              <a:gd name="adj" fmla="val 3429"/>
            </a:avLst>
          </a:prstGeom>
          <a:solidFill>
            <a:schemeClr val="tx1"/>
          </a:solidFill>
          <a:ln/>
        </p:spPr>
      </p:sp>
      <p:sp>
        <p:nvSpPr>
          <p:cNvPr id="4" name="Code label"/>
          <p:cNvSpPr txBox="1"/>
          <p:nvPr/>
        </p:nvSpPr>
        <p:spPr>
          <a:xfrm>
            <a:off x="731520" y="1463040"/>
            <a:ext cx="4297680" cy="320040"/>
          </a:xfrm>
          <a:prstGeom prst="rect">
            <a:avLst/>
          </a:prstGeom>
          <a:noFill/>
          <a:ln/>
        </p:spPr>
        <p:txBody>
          <a:bodyPr wrap="square" lIns="0" tIns="0" rIns="0" bIns="0" rtlCol="0" anchor="ctr"/>
          <a:lstStyle/>
          <a:p>
            <a:pPr indent="0" marL="0">
              <a:buNone/>
            </a:pPr>
            <a:r>
              <a:rPr lang="en-US" sz="1300" dirty="0">
                <a:solidFill>
                  <a:schemeClr val="accent6"/>
                </a:solidFill>
              </a:rPr>
              <a:t>health_status() in log_analyzer.py</a:t>
            </a:r>
            <a:endParaRPr lang="en-US" sz="1300" dirty="0"/>
          </a:p>
        </p:txBody>
      </p:sp>
      <p:sp>
        <p:nvSpPr>
          <p:cNvPr id="5" name="Code text"/>
          <p:cNvSpPr txBox="1"/>
          <p:nvPr/>
        </p:nvSpPr>
        <p:spPr>
          <a:xfrm>
            <a:off x="731520" y="1920240"/>
            <a:ext cx="4389120" cy="2286000"/>
          </a:xfrm>
          <a:prstGeom prst="rect">
            <a:avLst/>
          </a:prstGeom>
          <a:noFill/>
          <a:ln/>
        </p:spPr>
        <p:txBody>
          <a:bodyPr wrap="square" lIns="0" tIns="0" rIns="0" bIns="0" rtlCol="0" anchor="t"/>
          <a:lstStyle/>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def health_status(error_rate, avg_rt):</a:t>
            </a:r>
            <a:endParaRPr lang="en-US" sz="1300" dirty="0"/>
          </a:p>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if error_rate &gt; 15 or avg_rt &gt; 1500:</a:t>
            </a:r>
            <a:endParaRPr lang="en-US" sz="1300" dirty="0"/>
          </a:p>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return "CRITICAL"</a:t>
            </a:r>
            <a:endParaRPr lang="en-US" sz="1300" dirty="0"/>
          </a:p>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if error_rate &gt; 5 or avg_rt &gt; 600:</a:t>
            </a:r>
            <a:endParaRPr lang="en-US" sz="1300" dirty="0"/>
          </a:p>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return "DEGRADED"</a:t>
            </a:r>
            <a:endParaRPr lang="en-US" sz="1300" dirty="0"/>
          </a:p>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return "HEALTHY"</a:t>
            </a:r>
            <a:endParaRPr lang="en-US" sz="1300" dirty="0"/>
          </a:p>
        </p:txBody>
      </p:sp>
      <p:sp>
        <p:nvSpPr>
          <p:cNvPr id="6" name="parse_lines() text"/>
          <p:cNvSpPr txBox="1"/>
          <p:nvPr/>
        </p:nvSpPr>
        <p:spPr>
          <a:xfrm>
            <a:off x="5577840" y="1280160"/>
            <a:ext cx="3108960" cy="713232"/>
          </a:xfrm>
          <a:prstGeom prst="rect">
            <a:avLst/>
          </a:prstGeom>
          <a:noFill/>
          <a:ln/>
        </p:spPr>
        <p:txBody>
          <a:bodyPr wrap="square" lIns="0" tIns="0" rIns="0" bIns="0" rtlCol="0" anchor="t"/>
          <a:lstStyle/>
          <a:p>
            <a:pPr indent="0" marL="0">
              <a:buNone/>
            </a:pPr>
            <a:r>
              <a:rPr lang="en-US" sz="1500" b="1" dirty="0">
                <a:solidFill>
                  <a:schemeClr val="accent1"/>
                </a:solidFill>
              </a:rPr>
              <a:t>parse_lines()</a:t>
            </a:r>
            <a:endParaRPr lang="en-US" sz="1500" dirty="0"/>
          </a:p>
          <a:p>
            <a:pPr indent="0" marL="0">
              <a:buNone/>
            </a:pPr>
            <a:r>
              <a:rPr lang="en-US" sz="1300" dirty="0">
                <a:solidFill>
                  <a:schemeClr val="tx1"/>
                </a:solidFill>
              </a:rPr>
              <a:t>Parses each log line with a regex</a:t>
            </a:r>
            <a:endParaRPr lang="en-US" sz="1500" dirty="0"/>
          </a:p>
        </p:txBody>
      </p:sp>
      <p:sp>
        <p:nvSpPr>
          <p:cNvPr id="7" name="analyze() text"/>
          <p:cNvSpPr txBox="1"/>
          <p:nvPr/>
        </p:nvSpPr>
        <p:spPr>
          <a:xfrm>
            <a:off x="5577840" y="2084832"/>
            <a:ext cx="3108960" cy="713232"/>
          </a:xfrm>
          <a:prstGeom prst="rect">
            <a:avLst/>
          </a:prstGeom>
          <a:noFill/>
          <a:ln/>
        </p:spPr>
        <p:txBody>
          <a:bodyPr wrap="square" lIns="0" tIns="0" rIns="0" bIns="0" rtlCol="0" anchor="t"/>
          <a:lstStyle/>
          <a:p>
            <a:pPr indent="0" marL="0">
              <a:buNone/>
            </a:pPr>
            <a:r>
              <a:rPr lang="en-US" sz="1500" b="1" dirty="0">
                <a:solidFill>
                  <a:schemeClr val="accent1"/>
                </a:solidFill>
              </a:rPr>
              <a:t>analyze()</a:t>
            </a:r>
            <a:endParaRPr lang="en-US" sz="1500" dirty="0"/>
          </a:p>
          <a:p>
            <a:pPr indent="0" marL="0">
              <a:buNone/>
            </a:pPr>
            <a:r>
              <a:rPr lang="en-US" sz="1300" dirty="0">
                <a:solidFill>
                  <a:schemeClr val="tx1"/>
                </a:solidFill>
              </a:rPr>
              <a:t>Groups by endpoint and calculates metrics</a:t>
            </a:r>
            <a:endParaRPr lang="en-US" sz="1500" dirty="0"/>
          </a:p>
        </p:txBody>
      </p:sp>
      <p:sp>
        <p:nvSpPr>
          <p:cNvPr id="8" name="health_status() text"/>
          <p:cNvSpPr txBox="1"/>
          <p:nvPr/>
        </p:nvSpPr>
        <p:spPr>
          <a:xfrm>
            <a:off x="5577840" y="2889504"/>
            <a:ext cx="3108960" cy="713232"/>
          </a:xfrm>
          <a:prstGeom prst="rect">
            <a:avLst/>
          </a:prstGeom>
          <a:noFill/>
          <a:ln/>
        </p:spPr>
        <p:txBody>
          <a:bodyPr wrap="square" lIns="0" tIns="0" rIns="0" bIns="0" rtlCol="0" anchor="t"/>
          <a:lstStyle/>
          <a:p>
            <a:pPr indent="0" marL="0">
              <a:buNone/>
            </a:pPr>
            <a:r>
              <a:rPr lang="en-US" sz="1500" b="1" dirty="0">
                <a:solidFill>
                  <a:schemeClr val="accent1"/>
                </a:solidFill>
              </a:rPr>
              <a:t>health_status()</a:t>
            </a:r>
            <a:endParaRPr lang="en-US" sz="1500" dirty="0"/>
          </a:p>
          <a:p>
            <a:pPr indent="0" marL="0">
              <a:buNone/>
            </a:pPr>
            <a:r>
              <a:rPr lang="en-US" sz="1300" dirty="0">
                <a:solidFill>
                  <a:schemeClr val="tx1"/>
                </a:solidFill>
              </a:rPr>
              <a:t>Applies the rules to give the status</a:t>
            </a:r>
            <a:endParaRPr lang="en-US" sz="1500" dirty="0"/>
          </a:p>
        </p:txBody>
      </p:sp>
      <p:sp>
        <p:nvSpPr>
          <p:cNvPr id="9" name="build_dashboard() text"/>
          <p:cNvSpPr txBox="1"/>
          <p:nvPr/>
        </p:nvSpPr>
        <p:spPr>
          <a:xfrm>
            <a:off x="5577840" y="3694176"/>
            <a:ext cx="3108960" cy="713232"/>
          </a:xfrm>
          <a:prstGeom prst="rect">
            <a:avLst/>
          </a:prstGeom>
          <a:noFill/>
          <a:ln/>
        </p:spPr>
        <p:txBody>
          <a:bodyPr wrap="square" lIns="0" tIns="0" rIns="0" bIns="0" rtlCol="0" anchor="t"/>
          <a:lstStyle/>
          <a:p>
            <a:pPr indent="0" marL="0">
              <a:buNone/>
            </a:pPr>
            <a:r>
              <a:rPr lang="en-US" sz="1500" b="1" dirty="0">
                <a:solidFill>
                  <a:schemeClr val="accent1"/>
                </a:solidFill>
              </a:rPr>
              <a:t>build_dashboard()</a:t>
            </a:r>
            <a:endParaRPr lang="en-US" sz="1500" dirty="0"/>
          </a:p>
          <a:p>
            <a:pPr indent="0" marL="0">
              <a:buNone/>
            </a:pPr>
            <a:r>
              <a:rPr lang="en-US" sz="1300" dirty="0">
                <a:solidFill>
                  <a:schemeClr val="tx1"/>
                </a:solidFill>
              </a:rPr>
              <a:t>Builds the dashboard page with SVG charts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Website: How It Works</a:t>
            </a:r>
            <a:endParaRPr lang="en-US" sz="3600" dirty="0"/>
          </a:p>
        </p:txBody>
      </p:sp>
      <p:sp>
        <p:nvSpPr>
          <p:cNvPr id="3" name="Routes panel"/>
          <p:cNvSpPr/>
          <p:nvPr/>
        </p:nvSpPr>
        <p:spPr>
          <a:xfrm>
            <a:off x="457200" y="1280160"/>
            <a:ext cx="5486400" cy="2834640"/>
          </a:xfrm>
          <a:prstGeom prst="roundRect">
            <a:avLst>
              <a:gd name="adj" fmla="val 3871"/>
            </a:avLst>
          </a:prstGeom>
          <a:solidFill>
            <a:schemeClr val="tx1"/>
          </a:solidFill>
          <a:ln/>
        </p:spPr>
      </p:sp>
      <p:sp>
        <p:nvSpPr>
          <p:cNvPr id="4" name="Routes label"/>
          <p:cNvSpPr txBox="1"/>
          <p:nvPr/>
        </p:nvSpPr>
        <p:spPr>
          <a:xfrm>
            <a:off x="731520" y="1463040"/>
            <a:ext cx="4937760" cy="320040"/>
          </a:xfrm>
          <a:prstGeom prst="rect">
            <a:avLst/>
          </a:prstGeom>
          <a:noFill/>
          <a:ln/>
        </p:spPr>
        <p:txBody>
          <a:bodyPr wrap="square" lIns="0" tIns="0" rIns="0" bIns="0" rtlCol="0" anchor="ctr"/>
          <a:lstStyle/>
          <a:p>
            <a:pPr indent="0" marL="0">
              <a:buNone/>
            </a:pPr>
            <a:r>
              <a:rPr lang="en-US" sz="1300" dirty="0">
                <a:solidFill>
                  <a:schemeClr val="accent6"/>
                </a:solidFill>
              </a:rPr>
              <a:t>Routes in app.py (Flask)</a:t>
            </a:r>
            <a:endParaRPr lang="en-US" sz="1300" dirty="0"/>
          </a:p>
        </p:txBody>
      </p:sp>
      <p:sp>
        <p:nvSpPr>
          <p:cNvPr id="5" name="Routes text"/>
          <p:cNvSpPr txBox="1"/>
          <p:nvPr/>
        </p:nvSpPr>
        <p:spPr>
          <a:xfrm>
            <a:off x="731520" y="1965960"/>
            <a:ext cx="5029200" cy="2011680"/>
          </a:xfrm>
          <a:prstGeom prst="rect">
            <a:avLst/>
          </a:prstGeom>
          <a:noFill/>
          <a:ln/>
        </p:spPr>
        <p:txBody>
          <a:bodyPr wrap="square" lIns="0" tIns="0" rIns="0" bIns="0" rtlCol="0" anchor="t"/>
          <a:lstStyle/>
          <a:p>
            <a:pPr indent="0" marL="0">
              <a:spcAft>
                <a:spcPts val="1400"/>
              </a:spcAft>
              <a:buNone/>
            </a:pPr>
            <a:r>
              <a:rPr lang="en-US" sz="1300" dirty="0">
                <a:solidFill>
                  <a:schemeClr val="bg1"/>
                </a:solidFill>
                <a:latin typeface="Courier New" pitchFamily="34" charset="0"/>
                <a:ea typeface="Courier New" pitchFamily="34" charset="-122"/>
                <a:cs typeface="Courier New" pitchFamily="34" charset="-120"/>
              </a:rPr>
              <a:t>GET  /             upload page</a:t>
            </a:r>
            <a:endParaRPr lang="en-US" sz="1300" dirty="0"/>
          </a:p>
          <a:p>
            <a:pPr indent="0" marL="0">
              <a:spcAft>
                <a:spcPts val="1400"/>
              </a:spcAft>
              <a:buNone/>
            </a:pPr>
            <a:r>
              <a:rPr lang="en-US" sz="1300" dirty="0">
                <a:solidFill>
                  <a:schemeClr val="bg1"/>
                </a:solidFill>
                <a:latin typeface="Courier New" pitchFamily="34" charset="0"/>
                <a:ea typeface="Courier New" pitchFamily="34" charset="-122"/>
                <a:cs typeface="Courier New" pitchFamily="34" charset="-120"/>
              </a:rPr>
              <a:t>POST /analyze      dashboard for the file</a:t>
            </a:r>
            <a:endParaRPr lang="en-US" sz="1300" dirty="0"/>
          </a:p>
          <a:p>
            <a:pPr indent="0" marL="0">
              <a:spcAft>
                <a:spcPts val="1400"/>
              </a:spcAft>
              <a:buNone/>
            </a:pPr>
            <a:r>
              <a:rPr lang="en-US" sz="1300" dirty="0">
                <a:solidFill>
                  <a:schemeClr val="bg1"/>
                </a:solidFill>
                <a:latin typeface="Courier New" pitchFamily="34" charset="0"/>
                <a:ea typeface="Courier New" pitchFamily="34" charset="-122"/>
                <a:cs typeface="Courier New" pitchFamily="34" charset="-120"/>
              </a:rPr>
              <a:t>GET  /sample       dashboard for sample log</a:t>
            </a:r>
            <a:endParaRPr lang="en-US" sz="1300" dirty="0"/>
          </a:p>
          <a:p>
            <a:pPr indent="0" marL="0">
              <a:spcAft>
                <a:spcPts val="1400"/>
              </a:spcAft>
              <a:buNone/>
            </a:pPr>
            <a:r>
              <a:rPr lang="en-US" sz="1300" dirty="0">
                <a:solidFill>
                  <a:schemeClr val="bg1"/>
                </a:solidFill>
                <a:latin typeface="Courier New" pitchFamily="34" charset="0"/>
                <a:ea typeface="Courier New" pitchFamily="34" charset="-122"/>
                <a:cs typeface="Courier New" pitchFamily="34" charset="-120"/>
              </a:rPr>
              <a:t>POST /api/analyze  report as JSON</a:t>
            </a:r>
            <a:endParaRPr lang="en-US" sz="1300" dirty="0"/>
          </a:p>
        </p:txBody>
      </p:sp>
      <p:sp>
        <p:nvSpPr>
          <p:cNvPr id="6" name="Same code note"/>
          <p:cNvSpPr txBox="1"/>
          <p:nvPr/>
        </p:nvSpPr>
        <p:spPr>
          <a:xfrm>
            <a:off x="6217920" y="1280160"/>
            <a:ext cx="2468880" cy="960120"/>
          </a:xfrm>
          <a:prstGeom prst="rect">
            <a:avLst/>
          </a:prstGeom>
          <a:noFill/>
          <a:ln/>
        </p:spPr>
        <p:txBody>
          <a:bodyPr wrap="square" lIns="0" tIns="0" rIns="0" bIns="0" rtlCol="0" anchor="t"/>
          <a:lstStyle/>
          <a:p>
            <a:pPr indent="0" marL="0">
              <a:buNone/>
            </a:pPr>
            <a:r>
              <a:rPr lang="en-US" sz="1500" b="1" dirty="0">
                <a:solidFill>
                  <a:schemeClr val="accent1"/>
                </a:solidFill>
              </a:rPr>
              <a:t>Same code</a:t>
            </a:r>
            <a:endParaRPr lang="en-US" sz="1500" dirty="0"/>
          </a:p>
          <a:p>
            <a:pPr indent="0" marL="0">
              <a:buNone/>
            </a:pPr>
            <a:r>
              <a:rPr lang="en-US" sz="1300" dirty="0">
                <a:solidFill>
                  <a:schemeClr val="tx1"/>
                </a:solidFill>
              </a:rPr>
              <a:t>Reuses parse_lines(), analyze() and health_status() from log_analyzer.py</a:t>
            </a:r>
            <a:endParaRPr lang="en-US" sz="1500" dirty="0"/>
          </a:p>
        </p:txBody>
      </p:sp>
      <p:sp>
        <p:nvSpPr>
          <p:cNvPr id="7" name="Safe input note"/>
          <p:cNvSpPr txBox="1"/>
          <p:nvPr/>
        </p:nvSpPr>
        <p:spPr>
          <a:xfrm>
            <a:off x="6217920" y="2377440"/>
            <a:ext cx="2468880" cy="960120"/>
          </a:xfrm>
          <a:prstGeom prst="rect">
            <a:avLst/>
          </a:prstGeom>
          <a:noFill/>
          <a:ln/>
        </p:spPr>
        <p:txBody>
          <a:bodyPr wrap="square" lIns="0" tIns="0" rIns="0" bIns="0" rtlCol="0" anchor="t"/>
          <a:lstStyle/>
          <a:p>
            <a:pPr indent="0" marL="0">
              <a:buNone/>
            </a:pPr>
            <a:r>
              <a:rPr lang="en-US" sz="1500" b="1" dirty="0">
                <a:solidFill>
                  <a:schemeClr val="accent1"/>
                </a:solidFill>
              </a:rPr>
              <a:t>Safe input</a:t>
            </a:r>
            <a:endParaRPr lang="en-US" sz="1500" dirty="0"/>
          </a:p>
          <a:p>
            <a:pPr indent="0" marL="0">
              <a:buNone/>
            </a:pPr>
            <a:r>
              <a:rPr lang="en-US" sz="1300" dirty="0">
                <a:solidFill>
                  <a:schemeClr val="tx1"/>
                </a:solidFill>
              </a:rPr>
              <a:t>5 MB limit, bad files rejected, HTML escaped</a:t>
            </a:r>
            <a:endParaRPr lang="en-US" sz="1500" dirty="0"/>
          </a:p>
        </p:txBody>
      </p:sp>
      <p:sp>
        <p:nvSpPr>
          <p:cNvPr id="8" name="To run note"/>
          <p:cNvSpPr txBox="1"/>
          <p:nvPr/>
        </p:nvSpPr>
        <p:spPr>
          <a:xfrm>
            <a:off x="6217920" y="3474720"/>
            <a:ext cx="2468880" cy="960120"/>
          </a:xfrm>
          <a:prstGeom prst="rect">
            <a:avLst/>
          </a:prstGeom>
          <a:noFill/>
          <a:ln/>
        </p:spPr>
        <p:txBody>
          <a:bodyPr wrap="square" lIns="0" tIns="0" rIns="0" bIns="0" rtlCol="0" anchor="t"/>
          <a:lstStyle/>
          <a:p>
            <a:pPr indent="0" marL="0">
              <a:buNone/>
            </a:pPr>
            <a:r>
              <a:rPr lang="en-US" sz="1500" b="1" dirty="0">
                <a:solidFill>
                  <a:schemeClr val="accent1"/>
                </a:solidFill>
              </a:rPr>
              <a:t>To run</a:t>
            </a:r>
            <a:endParaRPr lang="en-US" sz="1500" dirty="0"/>
          </a:p>
          <a:p>
            <a:pPr indent="0" marL="0">
              <a:buNone/>
            </a:pPr>
            <a:r>
              <a:rPr lang="en-US" sz="1300" dirty="0">
                <a:solidFill>
                  <a:schemeClr val="tx1"/>
                </a:solidFill>
              </a:rPr>
              <a:t>pip install flask, then python app.py</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Functionalities</a:t>
            </a:r>
            <a:endParaRPr lang="en-US" sz="3600" dirty="0"/>
          </a:p>
        </p:txBody>
      </p:sp>
      <p:sp>
        <p:nvSpPr>
          <p:cNvPr id="3" name="Function card Parse logs"/>
          <p:cNvSpPr/>
          <p:nvPr/>
        </p:nvSpPr>
        <p:spPr>
          <a:xfrm>
            <a:off x="457200" y="1280160"/>
            <a:ext cx="2560320" cy="1554480"/>
          </a:xfrm>
          <a:prstGeom prst="roundRect">
            <a:avLst>
              <a:gd name="adj" fmla="val 7059"/>
            </a:avLst>
          </a:prstGeom>
          <a:solidFill>
            <a:schemeClr val="bg2"/>
          </a:solidFill>
          <a:ln/>
        </p:spPr>
      </p:sp>
      <p:sp>
        <p:nvSpPr>
          <p:cNvPr id="4" name="Parse logs circle"/>
          <p:cNvSpPr/>
          <p:nvPr/>
        </p:nvSpPr>
        <p:spPr>
          <a:xfrm>
            <a:off x="640080" y="1463040"/>
            <a:ext cx="548640" cy="548640"/>
          </a:xfrm>
          <a:prstGeom prst="ellipse">
            <a:avLst/>
          </a:prstGeom>
          <a:solidFill>
            <a:schemeClr val="accent1"/>
          </a:solidFill>
          <a:ln/>
        </p:spPr>
      </p:sp>
      <p:pic>
        <p:nvPicPr>
          <p:cNvPr id="5" name="Parse logs icon" descr="Parse logs">    </p:cNvPr>
          <p:cNvPicPr>
            <a:picLocks noChangeAspect="1"/>
          </p:cNvPicPr>
          <p:nvPr/>
        </p:nvPicPr>
        <p:blipFill>
          <a:blip r:embed="rId1"/>
          <a:stretch>
            <a:fillRect/>
          </a:stretch>
        </p:blipFill>
        <p:spPr>
          <a:xfrm>
            <a:off x="777240" y="1600200"/>
            <a:ext cx="274320" cy="274320"/>
          </a:xfrm>
          <a:prstGeom prst="rect">
            <a:avLst/>
          </a:prstGeom>
        </p:spPr>
      </p:pic>
      <p:sp>
        <p:nvSpPr>
          <p:cNvPr id="6" name="Parse logs title"/>
          <p:cNvSpPr txBox="1"/>
          <p:nvPr/>
        </p:nvSpPr>
        <p:spPr>
          <a:xfrm>
            <a:off x="1325880" y="146304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Parse logs</a:t>
            </a:r>
            <a:endParaRPr lang="en-US" sz="1600" dirty="0"/>
          </a:p>
        </p:txBody>
      </p:sp>
      <p:sp>
        <p:nvSpPr>
          <p:cNvPr id="7" name="Parse logs text"/>
          <p:cNvSpPr txBox="1"/>
          <p:nvPr/>
        </p:nvSpPr>
        <p:spPr>
          <a:xfrm>
            <a:off x="640080" y="2148840"/>
            <a:ext cx="2194560" cy="594360"/>
          </a:xfrm>
          <a:prstGeom prst="rect">
            <a:avLst/>
          </a:prstGeom>
          <a:noFill/>
          <a:ln/>
        </p:spPr>
        <p:txBody>
          <a:bodyPr wrap="square" lIns="0" tIns="0" rIns="0" bIns="0" rtlCol="0" anchor="t"/>
          <a:lstStyle/>
          <a:p>
            <a:pPr indent="0" marL="0">
              <a:buNone/>
            </a:pPr>
            <a:r>
              <a:rPr lang="en-US" sz="1300" dirty="0">
                <a:solidFill>
                  <a:schemeClr val="tx1"/>
                </a:solidFill>
              </a:rPr>
              <a:t>Regex reads every line and skips bad ones</a:t>
            </a:r>
            <a:endParaRPr lang="en-US" sz="1300" dirty="0"/>
          </a:p>
        </p:txBody>
      </p:sp>
      <p:sp>
        <p:nvSpPr>
          <p:cNvPr id="8" name="Function card Calculate metrics"/>
          <p:cNvSpPr/>
          <p:nvPr/>
        </p:nvSpPr>
        <p:spPr>
          <a:xfrm>
            <a:off x="3291840" y="1280160"/>
            <a:ext cx="2560320" cy="1554480"/>
          </a:xfrm>
          <a:prstGeom prst="roundRect">
            <a:avLst>
              <a:gd name="adj" fmla="val 7059"/>
            </a:avLst>
          </a:prstGeom>
          <a:solidFill>
            <a:schemeClr val="bg2"/>
          </a:solidFill>
          <a:ln/>
        </p:spPr>
      </p:sp>
      <p:sp>
        <p:nvSpPr>
          <p:cNvPr id="9" name="Calculate metrics circle"/>
          <p:cNvSpPr/>
          <p:nvPr/>
        </p:nvSpPr>
        <p:spPr>
          <a:xfrm>
            <a:off x="3474720" y="1463040"/>
            <a:ext cx="548640" cy="548640"/>
          </a:xfrm>
          <a:prstGeom prst="ellipse">
            <a:avLst/>
          </a:prstGeom>
          <a:solidFill>
            <a:schemeClr val="accent1"/>
          </a:solidFill>
          <a:ln/>
        </p:spPr>
      </p:sp>
      <p:pic>
        <p:nvPicPr>
          <p:cNvPr id="10" name="Calculate metrics icon" descr="Calculate metrics">    </p:cNvPr>
          <p:cNvPicPr>
            <a:picLocks noChangeAspect="1"/>
          </p:cNvPicPr>
          <p:nvPr/>
        </p:nvPicPr>
        <p:blipFill>
          <a:blip r:embed="rId2"/>
          <a:stretch>
            <a:fillRect/>
          </a:stretch>
        </p:blipFill>
        <p:spPr>
          <a:xfrm>
            <a:off x="3611880" y="1600200"/>
            <a:ext cx="274320" cy="274320"/>
          </a:xfrm>
          <a:prstGeom prst="rect">
            <a:avLst/>
          </a:prstGeom>
        </p:spPr>
      </p:pic>
      <p:sp>
        <p:nvSpPr>
          <p:cNvPr id="11" name="Calculate metrics title"/>
          <p:cNvSpPr txBox="1"/>
          <p:nvPr/>
        </p:nvSpPr>
        <p:spPr>
          <a:xfrm>
            <a:off x="4160520" y="146304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Calculate metrics</a:t>
            </a:r>
            <a:endParaRPr lang="en-US" sz="1600" dirty="0"/>
          </a:p>
        </p:txBody>
      </p:sp>
      <p:sp>
        <p:nvSpPr>
          <p:cNvPr id="12" name="Calculate metrics text"/>
          <p:cNvSpPr txBox="1"/>
          <p:nvPr/>
        </p:nvSpPr>
        <p:spPr>
          <a:xfrm>
            <a:off x="3474720" y="2148840"/>
            <a:ext cx="2194560" cy="594360"/>
          </a:xfrm>
          <a:prstGeom prst="rect">
            <a:avLst/>
          </a:prstGeom>
          <a:noFill/>
          <a:ln/>
        </p:spPr>
        <p:txBody>
          <a:bodyPr wrap="square" lIns="0" tIns="0" rIns="0" bIns="0" rtlCol="0" anchor="t"/>
          <a:lstStyle/>
          <a:p>
            <a:pPr indent="0" marL="0">
              <a:buNone/>
            </a:pPr>
            <a:r>
              <a:rPr lang="en-US" sz="1300" dirty="0">
                <a:solidFill>
                  <a:schemeClr val="tx1"/>
                </a:solidFill>
              </a:rPr>
              <a:t>Success rate, errors and response times</a:t>
            </a:r>
            <a:endParaRPr lang="en-US" sz="1300" dirty="0"/>
          </a:p>
        </p:txBody>
      </p:sp>
      <p:sp>
        <p:nvSpPr>
          <p:cNvPr id="13" name="Function card Classify health"/>
          <p:cNvSpPr/>
          <p:nvPr/>
        </p:nvSpPr>
        <p:spPr>
          <a:xfrm>
            <a:off x="6126480" y="1280160"/>
            <a:ext cx="2560320" cy="1554480"/>
          </a:xfrm>
          <a:prstGeom prst="roundRect">
            <a:avLst>
              <a:gd name="adj" fmla="val 7059"/>
            </a:avLst>
          </a:prstGeom>
          <a:solidFill>
            <a:schemeClr val="bg2"/>
          </a:solidFill>
          <a:ln/>
        </p:spPr>
      </p:sp>
      <p:sp>
        <p:nvSpPr>
          <p:cNvPr id="14" name="Classify health circle"/>
          <p:cNvSpPr/>
          <p:nvPr/>
        </p:nvSpPr>
        <p:spPr>
          <a:xfrm>
            <a:off x="6309360" y="1463040"/>
            <a:ext cx="548640" cy="548640"/>
          </a:xfrm>
          <a:prstGeom prst="ellipse">
            <a:avLst/>
          </a:prstGeom>
          <a:solidFill>
            <a:schemeClr val="accent1"/>
          </a:solidFill>
          <a:ln/>
        </p:spPr>
      </p:sp>
      <p:pic>
        <p:nvPicPr>
          <p:cNvPr id="15" name="Classify health icon" descr="Classify health">    </p:cNvPr>
          <p:cNvPicPr>
            <a:picLocks noChangeAspect="1"/>
          </p:cNvPicPr>
          <p:nvPr/>
        </p:nvPicPr>
        <p:blipFill>
          <a:blip r:embed="rId3"/>
          <a:stretch>
            <a:fillRect/>
          </a:stretch>
        </p:blipFill>
        <p:spPr>
          <a:xfrm>
            <a:off x="6446520" y="1600200"/>
            <a:ext cx="274320" cy="274320"/>
          </a:xfrm>
          <a:prstGeom prst="rect">
            <a:avLst/>
          </a:prstGeom>
        </p:spPr>
      </p:pic>
      <p:sp>
        <p:nvSpPr>
          <p:cNvPr id="16" name="Classify health title"/>
          <p:cNvSpPr txBox="1"/>
          <p:nvPr/>
        </p:nvSpPr>
        <p:spPr>
          <a:xfrm>
            <a:off x="6995160" y="146304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Classify health</a:t>
            </a:r>
            <a:endParaRPr lang="en-US" sz="1600" dirty="0"/>
          </a:p>
        </p:txBody>
      </p:sp>
      <p:sp>
        <p:nvSpPr>
          <p:cNvPr id="17" name="Classify health text"/>
          <p:cNvSpPr txBox="1"/>
          <p:nvPr/>
        </p:nvSpPr>
        <p:spPr>
          <a:xfrm>
            <a:off x="6309360" y="2148840"/>
            <a:ext cx="2194560" cy="594360"/>
          </a:xfrm>
          <a:prstGeom prst="rect">
            <a:avLst/>
          </a:prstGeom>
          <a:noFill/>
          <a:ln/>
        </p:spPr>
        <p:txBody>
          <a:bodyPr wrap="square" lIns="0" tIns="0" rIns="0" bIns="0" rtlCol="0" anchor="t"/>
          <a:lstStyle/>
          <a:p>
            <a:pPr indent="0" marL="0">
              <a:buNone/>
            </a:pPr>
            <a:r>
              <a:rPr lang="en-US" sz="1300" dirty="0">
                <a:solidFill>
                  <a:schemeClr val="tx1"/>
                </a:solidFill>
              </a:rPr>
              <a:t>HEALTHY, DEGRADED or CRITICAL per endpoint</a:t>
            </a:r>
            <a:endParaRPr lang="en-US" sz="1300" dirty="0"/>
          </a:p>
        </p:txBody>
      </p:sp>
      <p:sp>
        <p:nvSpPr>
          <p:cNvPr id="18" name="Function card Export reports"/>
          <p:cNvSpPr/>
          <p:nvPr/>
        </p:nvSpPr>
        <p:spPr>
          <a:xfrm>
            <a:off x="457200" y="2971800"/>
            <a:ext cx="2560320" cy="1554480"/>
          </a:xfrm>
          <a:prstGeom prst="roundRect">
            <a:avLst>
              <a:gd name="adj" fmla="val 7059"/>
            </a:avLst>
          </a:prstGeom>
          <a:solidFill>
            <a:schemeClr val="bg2"/>
          </a:solidFill>
          <a:ln/>
        </p:spPr>
      </p:sp>
      <p:sp>
        <p:nvSpPr>
          <p:cNvPr id="19" name="Export reports circle"/>
          <p:cNvSpPr/>
          <p:nvPr/>
        </p:nvSpPr>
        <p:spPr>
          <a:xfrm>
            <a:off x="640080" y="3154680"/>
            <a:ext cx="548640" cy="548640"/>
          </a:xfrm>
          <a:prstGeom prst="ellipse">
            <a:avLst/>
          </a:prstGeom>
          <a:solidFill>
            <a:schemeClr val="accent1"/>
          </a:solidFill>
          <a:ln/>
        </p:spPr>
      </p:sp>
      <p:pic>
        <p:nvPicPr>
          <p:cNvPr id="20" name="Export reports icon" descr="Export reports">    </p:cNvPr>
          <p:cNvPicPr>
            <a:picLocks noChangeAspect="1"/>
          </p:cNvPicPr>
          <p:nvPr/>
        </p:nvPicPr>
        <p:blipFill>
          <a:blip r:embed="rId4"/>
          <a:stretch>
            <a:fillRect/>
          </a:stretch>
        </p:blipFill>
        <p:spPr>
          <a:xfrm>
            <a:off x="777240" y="3291840"/>
            <a:ext cx="274320" cy="274320"/>
          </a:xfrm>
          <a:prstGeom prst="rect">
            <a:avLst/>
          </a:prstGeom>
        </p:spPr>
      </p:pic>
      <p:sp>
        <p:nvSpPr>
          <p:cNvPr id="21" name="Export reports title"/>
          <p:cNvSpPr txBox="1"/>
          <p:nvPr/>
        </p:nvSpPr>
        <p:spPr>
          <a:xfrm>
            <a:off x="1325880" y="315468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Export reports</a:t>
            </a:r>
            <a:endParaRPr lang="en-US" sz="1600" dirty="0"/>
          </a:p>
        </p:txBody>
      </p:sp>
      <p:sp>
        <p:nvSpPr>
          <p:cNvPr id="22" name="Export reports text"/>
          <p:cNvSpPr txBox="1"/>
          <p:nvPr/>
        </p:nvSpPr>
        <p:spPr>
          <a:xfrm>
            <a:off x="640080" y="3840480"/>
            <a:ext cx="2194560" cy="594360"/>
          </a:xfrm>
          <a:prstGeom prst="rect">
            <a:avLst/>
          </a:prstGeom>
          <a:noFill/>
          <a:ln/>
        </p:spPr>
        <p:txBody>
          <a:bodyPr wrap="square" lIns="0" tIns="0" rIns="0" bIns="0" rtlCol="0" anchor="t"/>
          <a:lstStyle/>
          <a:p>
            <a:pPr indent="0" marL="0">
              <a:buNone/>
            </a:pPr>
            <a:r>
              <a:rPr lang="en-US" sz="1300" dirty="0">
                <a:solidFill>
                  <a:schemeClr val="tx1"/>
                </a:solidFill>
              </a:rPr>
              <a:t>Save results as JSON and CSV files</a:t>
            </a:r>
            <a:endParaRPr lang="en-US" sz="1300" dirty="0"/>
          </a:p>
        </p:txBody>
      </p:sp>
      <p:sp>
        <p:nvSpPr>
          <p:cNvPr id="23" name="Function card Dashboard charts"/>
          <p:cNvSpPr/>
          <p:nvPr/>
        </p:nvSpPr>
        <p:spPr>
          <a:xfrm>
            <a:off x="3291840" y="2971800"/>
            <a:ext cx="2560320" cy="1554480"/>
          </a:xfrm>
          <a:prstGeom prst="roundRect">
            <a:avLst>
              <a:gd name="adj" fmla="val 7059"/>
            </a:avLst>
          </a:prstGeom>
          <a:solidFill>
            <a:schemeClr val="bg2"/>
          </a:solidFill>
          <a:ln/>
        </p:spPr>
      </p:sp>
      <p:sp>
        <p:nvSpPr>
          <p:cNvPr id="24" name="Dashboard charts circle"/>
          <p:cNvSpPr/>
          <p:nvPr/>
        </p:nvSpPr>
        <p:spPr>
          <a:xfrm>
            <a:off x="3474720" y="3154680"/>
            <a:ext cx="548640" cy="548640"/>
          </a:xfrm>
          <a:prstGeom prst="ellipse">
            <a:avLst/>
          </a:prstGeom>
          <a:solidFill>
            <a:schemeClr val="accent1"/>
          </a:solidFill>
          <a:ln/>
        </p:spPr>
      </p:sp>
      <p:pic>
        <p:nvPicPr>
          <p:cNvPr id="25" name="Dashboard charts icon" descr="Dashboard charts">    </p:cNvPr>
          <p:cNvPicPr>
            <a:picLocks noChangeAspect="1"/>
          </p:cNvPicPr>
          <p:nvPr/>
        </p:nvPicPr>
        <p:blipFill>
          <a:blip r:embed="rId5"/>
          <a:stretch>
            <a:fillRect/>
          </a:stretch>
        </p:blipFill>
        <p:spPr>
          <a:xfrm>
            <a:off x="3611880" y="3291840"/>
            <a:ext cx="274320" cy="274320"/>
          </a:xfrm>
          <a:prstGeom prst="rect">
            <a:avLst/>
          </a:prstGeom>
        </p:spPr>
      </p:pic>
      <p:sp>
        <p:nvSpPr>
          <p:cNvPr id="26" name="Dashboard charts title"/>
          <p:cNvSpPr txBox="1"/>
          <p:nvPr/>
        </p:nvSpPr>
        <p:spPr>
          <a:xfrm>
            <a:off x="4160520" y="315468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Dashboard charts</a:t>
            </a:r>
            <a:endParaRPr lang="en-US" sz="1600" dirty="0"/>
          </a:p>
        </p:txBody>
      </p:sp>
      <p:sp>
        <p:nvSpPr>
          <p:cNvPr id="27" name="Dashboard charts text"/>
          <p:cNvSpPr txBox="1"/>
          <p:nvPr/>
        </p:nvSpPr>
        <p:spPr>
          <a:xfrm>
            <a:off x="3474720" y="3840480"/>
            <a:ext cx="2194560" cy="594360"/>
          </a:xfrm>
          <a:prstGeom prst="rect">
            <a:avLst/>
          </a:prstGeom>
          <a:noFill/>
          <a:ln/>
        </p:spPr>
        <p:txBody>
          <a:bodyPr wrap="square" lIns="0" tIns="0" rIns="0" bIns="0" rtlCol="0" anchor="t"/>
          <a:lstStyle/>
          <a:p>
            <a:pPr indent="0" marL="0">
              <a:buNone/>
            </a:pPr>
            <a:r>
              <a:rPr lang="en-US" sz="1300" dirty="0">
                <a:solidFill>
                  <a:schemeClr val="tx1"/>
                </a:solidFill>
              </a:rPr>
              <a:t>Donut, bar, column and line charts in SVG</a:t>
            </a:r>
            <a:endParaRPr lang="en-US" sz="1300" dirty="0"/>
          </a:p>
        </p:txBody>
      </p:sp>
      <p:sp>
        <p:nvSpPr>
          <p:cNvPr id="28" name="Function card Working website"/>
          <p:cNvSpPr/>
          <p:nvPr/>
        </p:nvSpPr>
        <p:spPr>
          <a:xfrm>
            <a:off x="6126480" y="2971800"/>
            <a:ext cx="2560320" cy="1554480"/>
          </a:xfrm>
          <a:prstGeom prst="roundRect">
            <a:avLst>
              <a:gd name="adj" fmla="val 7059"/>
            </a:avLst>
          </a:prstGeom>
          <a:solidFill>
            <a:schemeClr val="bg2"/>
          </a:solidFill>
          <a:ln/>
        </p:spPr>
      </p:sp>
      <p:sp>
        <p:nvSpPr>
          <p:cNvPr id="29" name="Working website circle"/>
          <p:cNvSpPr/>
          <p:nvPr/>
        </p:nvSpPr>
        <p:spPr>
          <a:xfrm>
            <a:off x="6309360" y="3154680"/>
            <a:ext cx="548640" cy="548640"/>
          </a:xfrm>
          <a:prstGeom prst="ellipse">
            <a:avLst/>
          </a:prstGeom>
          <a:solidFill>
            <a:schemeClr val="accent1"/>
          </a:solidFill>
          <a:ln/>
        </p:spPr>
      </p:sp>
      <p:pic>
        <p:nvPicPr>
          <p:cNvPr id="30" name="Working website icon" descr="Working website">    </p:cNvPr>
          <p:cNvPicPr>
            <a:picLocks noChangeAspect="1"/>
          </p:cNvPicPr>
          <p:nvPr/>
        </p:nvPicPr>
        <p:blipFill>
          <a:blip r:embed="rId6"/>
          <a:stretch>
            <a:fillRect/>
          </a:stretch>
        </p:blipFill>
        <p:spPr>
          <a:xfrm>
            <a:off x="6446520" y="3291840"/>
            <a:ext cx="274320" cy="274320"/>
          </a:xfrm>
          <a:prstGeom prst="rect">
            <a:avLst/>
          </a:prstGeom>
        </p:spPr>
      </p:pic>
      <p:sp>
        <p:nvSpPr>
          <p:cNvPr id="31" name="Working website title"/>
          <p:cNvSpPr txBox="1"/>
          <p:nvPr/>
        </p:nvSpPr>
        <p:spPr>
          <a:xfrm>
            <a:off x="6995160" y="3154680"/>
            <a:ext cx="1600200" cy="548640"/>
          </a:xfrm>
          <a:prstGeom prst="rect">
            <a:avLst/>
          </a:prstGeom>
          <a:noFill/>
          <a:ln/>
        </p:spPr>
        <p:txBody>
          <a:bodyPr wrap="square" lIns="0" tIns="0" rIns="0" bIns="0" rtlCol="0" anchor="ctr"/>
          <a:lstStyle/>
          <a:p>
            <a:pPr indent="0" marL="0">
              <a:buNone/>
            </a:pPr>
            <a:r>
              <a:rPr lang="en-US" sz="1600" b="1" dirty="0">
                <a:solidFill>
                  <a:schemeClr val="tx1"/>
                </a:solidFill>
              </a:rPr>
              <a:t>Working website</a:t>
            </a:r>
            <a:endParaRPr lang="en-US" sz="1600" dirty="0"/>
          </a:p>
        </p:txBody>
      </p:sp>
      <p:sp>
        <p:nvSpPr>
          <p:cNvPr id="32" name="Working website text"/>
          <p:cNvSpPr txBox="1"/>
          <p:nvPr/>
        </p:nvSpPr>
        <p:spPr>
          <a:xfrm>
            <a:off x="6309360" y="3840480"/>
            <a:ext cx="2194560" cy="594360"/>
          </a:xfrm>
          <a:prstGeom prst="rect">
            <a:avLst/>
          </a:prstGeom>
          <a:noFill/>
          <a:ln/>
        </p:spPr>
        <p:txBody>
          <a:bodyPr wrap="square" lIns="0" tIns="0" rIns="0" bIns="0" rtlCol="0" anchor="t"/>
          <a:lstStyle/>
          <a:p>
            <a:pPr indent="0" marL="0">
              <a:buNone/>
            </a:pPr>
            <a:r>
              <a:rPr lang="en-US" sz="1300" dirty="0">
                <a:solidFill>
                  <a:schemeClr val="tx1"/>
                </a:solidFill>
              </a:rPr>
              <a:t>Upload a log file and see the dashboard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Output: Console Report</a:t>
            </a:r>
            <a:endParaRPr lang="en-US" sz="3600" dirty="0"/>
          </a:p>
        </p:txBody>
      </p:sp>
      <p:sp>
        <p:nvSpPr>
          <p:cNvPr id="3" name="Console panel"/>
          <p:cNvSpPr/>
          <p:nvPr/>
        </p:nvSpPr>
        <p:spPr>
          <a:xfrm>
            <a:off x="457200" y="1280160"/>
            <a:ext cx="8229600" cy="3200400"/>
          </a:xfrm>
          <a:prstGeom prst="roundRect">
            <a:avLst>
              <a:gd name="adj" fmla="val 3429"/>
            </a:avLst>
          </a:prstGeom>
          <a:solidFill>
            <a:schemeClr val="tx1"/>
          </a:solidFill>
          <a:ln/>
        </p:spPr>
      </p:sp>
      <p:sp>
        <p:nvSpPr>
          <p:cNvPr id="4" name="Console text"/>
          <p:cNvSpPr txBox="1"/>
          <p:nvPr/>
        </p:nvSpPr>
        <p:spPr>
          <a:xfrm>
            <a:off x="777240" y="1463040"/>
            <a:ext cx="7589520" cy="2834640"/>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Total requests     : 1000</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Success rate       : 91.7%</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Error rate         : 8.3%</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Avg response time  : 619.1 ms (median 301.0, p95 2398)</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Endpoint          Reqs    Err%   Avg ms   P95 ms  Status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/api/payments      176    25.0   1983.2     4644  CRITICAL</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/api/orders        164   13.41    668.8     1478  DEGRADED</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/api/login         157     5.1    178.7      249  DEGRADED</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/api/products      145    2.76    270.8      389  HEALTHY</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/api/search        183    1.64    380.6      587  HEALTHY</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/api/users         175    1.14    133.4      193  HEALTHY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Endpoint Health Report</a:t>
            </a:r>
            <a:endParaRPr lang="en-US" sz="3600" dirty="0"/>
          </a:p>
        </p:txBody>
      </p:sp>
      <p:graphicFrame>
        <p:nvGraphicFramePr>
          <p:cNvPr id="11" name="Endpoint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1097280"/>
                <a:gridCol w="1097280"/>
                <a:gridCol w="1188720"/>
                <a:gridCol w="1188720"/>
                <a:gridCol w="1645920"/>
              </a:tblGrid>
              <a:tr h="411480">
                <a:tc>
                  <a:txBody>
                    <a:bodyPr/>
                    <a:lstStyle/>
                    <a:p>
                      <a:pPr algn="l" indent="0" marL="0">
                        <a:buNone/>
                      </a:pPr>
                      <a:r>
                        <a:rPr lang="en-US" sz="1400" b="1" dirty="0">
                          <a:solidFill>
                            <a:srgbClr val="FFFFFF"/>
                          </a:solidFill>
                        </a:rPr>
                        <a:t>Endpoint</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2304A"/>
                    </a:solidFill>
                  </a:tcPr>
                </a:tc>
                <a:tc>
                  <a:txBody>
                    <a:bodyPr/>
                    <a:lstStyle/>
                    <a:p>
                      <a:pPr algn="r" indent="0" marL="0">
                        <a:buNone/>
                      </a:pPr>
                      <a:r>
                        <a:rPr lang="en-US" sz="1400" b="1" dirty="0">
                          <a:solidFill>
                            <a:srgbClr val="FFFFFF"/>
                          </a:solidFill>
                        </a:rPr>
                        <a:t>Requests</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2304A"/>
                    </a:solidFill>
                  </a:tcPr>
                </a:tc>
                <a:tc>
                  <a:txBody>
                    <a:bodyPr/>
                    <a:lstStyle/>
                    <a:p>
                      <a:pPr algn="r" indent="0" marL="0">
                        <a:buNone/>
                      </a:pPr>
                      <a:r>
                        <a:rPr lang="en-US" sz="1400" b="1" dirty="0">
                          <a:solidFill>
                            <a:srgbClr val="FFFFFF"/>
                          </a:solidFill>
                        </a:rPr>
                        <a:t>Error %</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2304A"/>
                    </a:solidFill>
                  </a:tcPr>
                </a:tc>
                <a:tc>
                  <a:txBody>
                    <a:bodyPr/>
                    <a:lstStyle/>
                    <a:p>
                      <a:pPr algn="r" indent="0" marL="0">
                        <a:buNone/>
                      </a:pPr>
                      <a:r>
                        <a:rPr lang="en-US" sz="1400" b="1" dirty="0">
                          <a:solidFill>
                            <a:srgbClr val="FFFFFF"/>
                          </a:solidFill>
                        </a:rPr>
                        <a:t>Avg ms</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2304A"/>
                    </a:solidFill>
                  </a:tcPr>
                </a:tc>
                <a:tc>
                  <a:txBody>
                    <a:bodyPr/>
                    <a:lstStyle/>
                    <a:p>
                      <a:pPr algn="r" indent="0" marL="0">
                        <a:buNone/>
                      </a:pPr>
                      <a:r>
                        <a:rPr lang="en-US" sz="1400" b="1" dirty="0">
                          <a:solidFill>
                            <a:srgbClr val="FFFFFF"/>
                          </a:solidFill>
                        </a:rPr>
                        <a:t>P95 ms</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2304A"/>
                    </a:solidFill>
                  </a:tcPr>
                </a:tc>
                <a:tc>
                  <a:txBody>
                    <a:bodyPr/>
                    <a:lstStyle/>
                    <a:p>
                      <a:pPr algn="ctr" indent="0" marL="0">
                        <a:buNone/>
                      </a:pPr>
                      <a:r>
                        <a:rPr lang="en-US" sz="1400" b="1" dirty="0">
                          <a:solidFill>
                            <a:srgbClr val="FFFFFF"/>
                          </a:solidFill>
                        </a:rPr>
                        <a:t>Status</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2304A"/>
                    </a:solidFill>
                  </a:tcPr>
                </a:tc>
              </a:tr>
              <a:tr h="411480">
                <a:tc>
                  <a:txBody>
                    <a:bodyPr/>
                    <a:lstStyle/>
                    <a:p>
                      <a:pPr algn="l" indent="0" marL="0">
                        <a:buNone/>
                      </a:pPr>
                      <a:r>
                        <a:rPr lang="en-US" sz="1400" dirty="0">
                          <a:solidFill>
                            <a:srgbClr val="0B1B2B"/>
                          </a:solidFill>
                        </a:rPr>
                        <a:t>/api/payments</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176</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25.0</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1983.2</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4644</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02A2A"/>
                          </a:solidFill>
                        </a:rPr>
                        <a:t>CRITICAL</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BE3E3"/>
                    </a:solidFill>
                  </a:tcPr>
                </a:tc>
              </a:tr>
              <a:tr h="411480">
                <a:tc>
                  <a:txBody>
                    <a:bodyPr/>
                    <a:lstStyle/>
                    <a:p>
                      <a:pPr algn="l" indent="0" marL="0">
                        <a:buNone/>
                      </a:pPr>
                      <a:r>
                        <a:rPr lang="en-US" sz="1400" dirty="0">
                          <a:solidFill>
                            <a:srgbClr val="0B1B2B"/>
                          </a:solidFill>
                        </a:rPr>
                        <a:t>/api/orders</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164</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13.4</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668.8</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1478</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8A5200"/>
                          </a:solidFill>
                        </a:rPr>
                        <a:t>DEGRADED</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DF0D9"/>
                    </a:solidFill>
                  </a:tcPr>
                </a:tc>
              </a:tr>
              <a:tr h="411480">
                <a:tc>
                  <a:txBody>
                    <a:bodyPr/>
                    <a:lstStyle/>
                    <a:p>
                      <a:pPr algn="l" indent="0" marL="0">
                        <a:buNone/>
                      </a:pPr>
                      <a:r>
                        <a:rPr lang="en-US" sz="1400" dirty="0">
                          <a:solidFill>
                            <a:srgbClr val="0B1B2B"/>
                          </a:solidFill>
                        </a:rPr>
                        <a:t>/api/login</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157</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5.1</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178.7</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249</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8A5200"/>
                          </a:solidFill>
                        </a:rPr>
                        <a:t>DEGRADED</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DF0D9"/>
                    </a:solidFill>
                  </a:tcPr>
                </a:tc>
              </a:tr>
              <a:tr h="411480">
                <a:tc>
                  <a:txBody>
                    <a:bodyPr/>
                    <a:lstStyle/>
                    <a:p>
                      <a:pPr algn="l" indent="0" marL="0">
                        <a:buNone/>
                      </a:pPr>
                      <a:r>
                        <a:rPr lang="en-US" sz="1400" dirty="0">
                          <a:solidFill>
                            <a:srgbClr val="0B1B2B"/>
                          </a:solidFill>
                        </a:rPr>
                        <a:t>/api/products</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145</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2.8</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270.8</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389</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7A4D"/>
                          </a:solidFill>
                        </a:rPr>
                        <a:t>HEALTHY</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3E8"/>
                    </a:solidFill>
                  </a:tcPr>
                </a:tc>
              </a:tr>
              <a:tr h="411480">
                <a:tc>
                  <a:txBody>
                    <a:bodyPr/>
                    <a:lstStyle/>
                    <a:p>
                      <a:pPr algn="l" indent="0" marL="0">
                        <a:buNone/>
                      </a:pPr>
                      <a:r>
                        <a:rPr lang="en-US" sz="1400" dirty="0">
                          <a:solidFill>
                            <a:srgbClr val="0B1B2B"/>
                          </a:solidFill>
                        </a:rPr>
                        <a:t>/api/search</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183</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1.6</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380.6</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587</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7A4D"/>
                          </a:solidFill>
                        </a:rPr>
                        <a:t>HEALTHY</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3E8"/>
                    </a:solidFill>
                  </a:tcPr>
                </a:tc>
              </a:tr>
              <a:tr h="411480">
                <a:tc>
                  <a:txBody>
                    <a:bodyPr/>
                    <a:lstStyle/>
                    <a:p>
                      <a:pPr algn="l" indent="0" marL="0">
                        <a:buNone/>
                      </a:pPr>
                      <a:r>
                        <a:rPr lang="en-US" sz="1400" dirty="0">
                          <a:solidFill>
                            <a:srgbClr val="0B1B2B"/>
                          </a:solidFill>
                        </a:rPr>
                        <a:t>/api/users</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175</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1.1</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133.4</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B1B2B"/>
                          </a:solidFill>
                        </a:rPr>
                        <a:t>193</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7A4D"/>
                          </a:solidFill>
                        </a:rPr>
                        <a:t>HEALTHY</a:t>
                      </a:r>
                      <a:endParaRPr lang="en-US" sz="1400" dirty="0"/>
                    </a:p>
                  </a:txBody>
                  <a:tcPr marL="109728" marR="109728" marT="0" marB="0"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DF3E8"/>
                    </a:solidFill>
                  </a:tcPr>
                </a:tc>
              </a:tr>
            </a:tbl>
          </a:graphicData>
        </a:graphic>
      </p:graphicFrame>
      <p:sp>
        <p:nvSpPr>
          <p:cNvPr id="4" name="Table caption"/>
          <p:cNvSpPr txBox="1"/>
          <p:nvPr/>
        </p:nvSpPr>
        <p:spPr>
          <a:xfrm>
            <a:off x="457200" y="4297680"/>
            <a:ext cx="8229600" cy="274320"/>
          </a:xfrm>
          <a:prstGeom prst="rect">
            <a:avLst/>
          </a:prstGeom>
          <a:noFill/>
          <a:ln/>
        </p:spPr>
        <p:txBody>
          <a:bodyPr wrap="square" lIns="0" tIns="0" rIns="0" bIns="0" rtlCol="0" anchor="ctr"/>
          <a:lstStyle/>
          <a:p>
            <a:pPr indent="0" marL="0">
              <a:buNone/>
            </a:pPr>
            <a:r>
              <a:rPr lang="en-US" sz="1200" dirty="0">
                <a:solidFill>
                  <a:schemeClr val="accent5"/>
                </a:solidFill>
              </a:rPr>
              <a:t>Sorted by error rate, highest first. Overall: 1,000 requests, 91.7% success, 619 ms average response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Output: Upload Page</a:t>
            </a:r>
            <a:endParaRPr lang="en-US" sz="3600" dirty="0"/>
          </a:p>
        </p:txBody>
      </p:sp>
      <p:sp>
        <p:nvSpPr>
          <p:cNvPr id="3" name="Upload page image frame"/>
          <p:cNvSpPr/>
          <p:nvPr/>
        </p:nvSpPr>
        <p:spPr>
          <a:xfrm>
            <a:off x="429768" y="1252728"/>
            <a:ext cx="4520986" cy="2706624"/>
          </a:xfrm>
          <a:prstGeom prst="rect">
            <a:avLst/>
          </a:prstGeom>
          <a:solidFill>
            <a:schemeClr val="bg1"/>
          </a:solidFill>
          <a:ln w="12700">
            <a:solidFill>
              <a:srgbClr val="D5DEE6"/>
            </a:solidFill>
            <a:prstDash val="solid"/>
          </a:ln>
        </p:spPr>
      </p:sp>
      <p:pic>
        <p:nvPicPr>
          <p:cNvPr id="4" name="Upload page image" descr="Upload page of the website">    </p:cNvPr>
          <p:cNvPicPr>
            <a:picLocks noChangeAspect="1"/>
          </p:cNvPicPr>
          <p:nvPr/>
        </p:nvPicPr>
        <p:blipFill>
          <a:blip r:embed="rId1"/>
          <a:stretch>
            <a:fillRect/>
          </a:stretch>
        </p:blipFill>
        <p:spPr>
          <a:xfrm>
            <a:off x="457200" y="1280160"/>
            <a:ext cx="4466122" cy="2651760"/>
          </a:xfrm>
          <a:prstGeom prst="rect">
            <a:avLst/>
          </a:prstGeom>
        </p:spPr>
      </p:pic>
      <p:sp>
        <p:nvSpPr>
          <p:cNvPr id="5" name="Choose a file note"/>
          <p:cNvSpPr txBox="1"/>
          <p:nvPr/>
        </p:nvSpPr>
        <p:spPr>
          <a:xfrm>
            <a:off x="5897880" y="1280160"/>
            <a:ext cx="2788920" cy="868680"/>
          </a:xfrm>
          <a:prstGeom prst="rect">
            <a:avLst/>
          </a:prstGeom>
          <a:noFill/>
          <a:ln/>
        </p:spPr>
        <p:txBody>
          <a:bodyPr wrap="square" lIns="0" tIns="0" rIns="0" bIns="0" rtlCol="0" anchor="t"/>
          <a:lstStyle/>
          <a:p>
            <a:pPr indent="0" marL="0">
              <a:buNone/>
            </a:pPr>
            <a:r>
              <a:rPr lang="en-US" sz="1600" b="1" dirty="0">
                <a:solidFill>
                  <a:schemeClr val="accent1"/>
                </a:solidFill>
              </a:rPr>
              <a:t>Choose a file</a:t>
            </a:r>
            <a:endParaRPr lang="en-US" sz="1600" dirty="0"/>
          </a:p>
          <a:p>
            <a:pPr indent="0" marL="0">
              <a:buNone/>
            </a:pPr>
            <a:r>
              <a:rPr lang="en-US" sz="1400" dirty="0">
                <a:solidFill>
                  <a:schemeClr val="tx1"/>
                </a:solidFill>
              </a:rPr>
              <a:t>Drag and drop or click to upload a .log or .txt file, up to 5 MB</a:t>
            </a:r>
            <a:endParaRPr lang="en-US" sz="1600" dirty="0"/>
          </a:p>
        </p:txBody>
      </p:sp>
      <p:sp>
        <p:nvSpPr>
          <p:cNvPr id="6" name="Try the sample note"/>
          <p:cNvSpPr txBox="1"/>
          <p:nvPr/>
        </p:nvSpPr>
        <p:spPr>
          <a:xfrm>
            <a:off x="5897880" y="2240280"/>
            <a:ext cx="2788920" cy="868680"/>
          </a:xfrm>
          <a:prstGeom prst="rect">
            <a:avLst/>
          </a:prstGeom>
          <a:noFill/>
          <a:ln/>
        </p:spPr>
        <p:txBody>
          <a:bodyPr wrap="square" lIns="0" tIns="0" rIns="0" bIns="0" rtlCol="0" anchor="t"/>
          <a:lstStyle/>
          <a:p>
            <a:pPr indent="0" marL="0">
              <a:buNone/>
            </a:pPr>
            <a:r>
              <a:rPr lang="en-US" sz="1600" b="1" dirty="0">
                <a:solidFill>
                  <a:schemeClr val="accent1"/>
                </a:solidFill>
              </a:rPr>
              <a:t>Try the sample</a:t>
            </a:r>
            <a:endParaRPr lang="en-US" sz="1600" dirty="0"/>
          </a:p>
          <a:p>
            <a:pPr indent="0" marL="0">
              <a:buNone/>
            </a:pPr>
            <a:r>
              <a:rPr lang="en-US" sz="1400" dirty="0">
                <a:solidFill>
                  <a:schemeClr val="tx1"/>
                </a:solidFill>
              </a:rPr>
              <a:t>One click analyzes the built-in sample log</a:t>
            </a:r>
            <a:endParaRPr lang="en-US" sz="1600" dirty="0"/>
          </a:p>
        </p:txBody>
      </p:sp>
      <p:sp>
        <p:nvSpPr>
          <p:cNvPr id="7" name="Clear errors note"/>
          <p:cNvSpPr txBox="1"/>
          <p:nvPr/>
        </p:nvSpPr>
        <p:spPr>
          <a:xfrm>
            <a:off x="5897880" y="3200400"/>
            <a:ext cx="2788920" cy="868680"/>
          </a:xfrm>
          <a:prstGeom prst="rect">
            <a:avLst/>
          </a:prstGeom>
          <a:noFill/>
          <a:ln/>
        </p:spPr>
        <p:txBody>
          <a:bodyPr wrap="square" lIns="0" tIns="0" rIns="0" bIns="0" rtlCol="0" anchor="t"/>
          <a:lstStyle/>
          <a:p>
            <a:pPr indent="0" marL="0">
              <a:buNone/>
            </a:pPr>
            <a:r>
              <a:rPr lang="en-US" sz="1600" b="1" dirty="0">
                <a:solidFill>
                  <a:schemeClr val="accent1"/>
                </a:solidFill>
              </a:rPr>
              <a:t>Clear errors</a:t>
            </a:r>
            <a:endParaRPr lang="en-US" sz="1600" dirty="0"/>
          </a:p>
          <a:p>
            <a:pPr indent="0" marL="0">
              <a:buNone/>
            </a:pPr>
            <a:r>
              <a:rPr lang="en-US" sz="1400" dirty="0">
                <a:solidFill>
                  <a:schemeClr val="tx1"/>
                </a:solidFill>
              </a:rPr>
              <a:t>A missing or invalid file shows a message, not a crash</a:t>
            </a:r>
            <a:endParaRPr lang="en-US" sz="1600" dirty="0"/>
          </a:p>
        </p:txBody>
      </p:sp>
      <p:sp>
        <p:nvSpPr>
          <p:cNvPr id="8" name="Run caption"/>
          <p:cNvSpPr txBox="1"/>
          <p:nvPr/>
        </p:nvSpPr>
        <p:spPr>
          <a:xfrm>
            <a:off x="457200" y="4023360"/>
            <a:ext cx="8229600" cy="274320"/>
          </a:xfrm>
          <a:prstGeom prst="rect">
            <a:avLst/>
          </a:prstGeom>
          <a:noFill/>
          <a:ln/>
        </p:spPr>
        <p:txBody>
          <a:bodyPr wrap="square" lIns="0" tIns="0" rIns="0" bIns="0" rtlCol="0" anchor="ctr"/>
          <a:lstStyle/>
          <a:p>
            <a:pPr indent="0" marL="0">
              <a:buNone/>
            </a:pPr>
            <a:r>
              <a:rPr lang="en-US" sz="1200" dirty="0">
                <a:solidFill>
                  <a:schemeClr val="accent5"/>
                </a:solidFill>
              </a:rPr>
              <a:t>Run: pip install flask, then python app.py, then open http://127.0.0.1:5000</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Output: Dashboard</a:t>
            </a:r>
            <a:endParaRPr lang="en-US" sz="3600" dirty="0"/>
          </a:p>
        </p:txBody>
      </p:sp>
      <p:sp>
        <p:nvSpPr>
          <p:cNvPr id="3" name="Dashboard top image frame"/>
          <p:cNvSpPr/>
          <p:nvPr/>
        </p:nvSpPr>
        <p:spPr>
          <a:xfrm>
            <a:off x="429768" y="1252728"/>
            <a:ext cx="5359453" cy="2889504"/>
          </a:xfrm>
          <a:prstGeom prst="rect">
            <a:avLst/>
          </a:prstGeom>
          <a:solidFill>
            <a:schemeClr val="bg1"/>
          </a:solidFill>
          <a:ln w="12700">
            <a:solidFill>
              <a:srgbClr val="D5DEE6"/>
            </a:solidFill>
            <a:prstDash val="solid"/>
          </a:ln>
        </p:spPr>
      </p:sp>
      <p:pic>
        <p:nvPicPr>
          <p:cNvPr id="4" name="Dashboard top image" descr="Dashboard with status banner, KPI cards, donut charts and alerts">    </p:cNvPr>
          <p:cNvPicPr>
            <a:picLocks noChangeAspect="1"/>
          </p:cNvPicPr>
          <p:nvPr/>
        </p:nvPicPr>
        <p:blipFill>
          <a:blip r:embed="rId1"/>
          <a:stretch>
            <a:fillRect/>
          </a:stretch>
        </p:blipFill>
        <p:spPr>
          <a:xfrm>
            <a:off x="457200" y="1280160"/>
            <a:ext cx="5304589" cy="2834640"/>
          </a:xfrm>
          <a:prstGeom prst="rect">
            <a:avLst/>
          </a:prstGeom>
        </p:spPr>
      </p:pic>
      <p:sp>
        <p:nvSpPr>
          <p:cNvPr id="5" name="Status banner note"/>
          <p:cNvSpPr txBox="1"/>
          <p:nvPr/>
        </p:nvSpPr>
        <p:spPr>
          <a:xfrm>
            <a:off x="6583680" y="1280160"/>
            <a:ext cx="2103120" cy="685800"/>
          </a:xfrm>
          <a:prstGeom prst="rect">
            <a:avLst/>
          </a:prstGeom>
          <a:noFill/>
          <a:ln/>
        </p:spPr>
        <p:txBody>
          <a:bodyPr wrap="square" lIns="0" tIns="0" rIns="0" bIns="0" rtlCol="0" anchor="t"/>
          <a:lstStyle/>
          <a:p>
            <a:pPr indent="0" marL="0">
              <a:buNone/>
            </a:pPr>
            <a:r>
              <a:rPr lang="en-US" sz="1500" b="1" dirty="0">
                <a:solidFill>
                  <a:schemeClr val="accent1"/>
                </a:solidFill>
              </a:rPr>
              <a:t>Status banner</a:t>
            </a:r>
            <a:endParaRPr lang="en-US" sz="1500" dirty="0"/>
          </a:p>
          <a:p>
            <a:pPr indent="0" marL="0">
              <a:buNone/>
            </a:pPr>
            <a:r>
              <a:rPr lang="en-US" sz="1300" dirty="0">
                <a:solidFill>
                  <a:schemeClr val="tx1"/>
                </a:solidFill>
              </a:rPr>
              <a:t>Worst status of all endpoints</a:t>
            </a:r>
            <a:endParaRPr lang="en-US" sz="1500" dirty="0"/>
          </a:p>
        </p:txBody>
      </p:sp>
      <p:sp>
        <p:nvSpPr>
          <p:cNvPr id="6" name="KPI cards note"/>
          <p:cNvSpPr txBox="1"/>
          <p:nvPr/>
        </p:nvSpPr>
        <p:spPr>
          <a:xfrm>
            <a:off x="6583680" y="2057400"/>
            <a:ext cx="2103120" cy="685800"/>
          </a:xfrm>
          <a:prstGeom prst="rect">
            <a:avLst/>
          </a:prstGeom>
          <a:noFill/>
          <a:ln/>
        </p:spPr>
        <p:txBody>
          <a:bodyPr wrap="square" lIns="0" tIns="0" rIns="0" bIns="0" rtlCol="0" anchor="t"/>
          <a:lstStyle/>
          <a:p>
            <a:pPr indent="0" marL="0">
              <a:buNone/>
            </a:pPr>
            <a:r>
              <a:rPr lang="en-US" sz="1500" b="1" dirty="0">
                <a:solidFill>
                  <a:schemeClr val="accent1"/>
                </a:solidFill>
              </a:rPr>
              <a:t>KPI cards</a:t>
            </a:r>
            <a:endParaRPr lang="en-US" sz="1500" dirty="0"/>
          </a:p>
          <a:p>
            <a:pPr indent="0" marL="0">
              <a:buNone/>
            </a:pPr>
            <a:r>
              <a:rPr lang="en-US" sz="1300" dirty="0">
                <a:solidFill>
                  <a:schemeClr val="tx1"/>
                </a:solidFill>
              </a:rPr>
              <a:t>Requests, success, errors and times</a:t>
            </a:r>
            <a:endParaRPr lang="en-US" sz="1500" dirty="0"/>
          </a:p>
        </p:txBody>
      </p:sp>
      <p:sp>
        <p:nvSpPr>
          <p:cNvPr id="7" name="Donut charts note"/>
          <p:cNvSpPr txBox="1"/>
          <p:nvPr/>
        </p:nvSpPr>
        <p:spPr>
          <a:xfrm>
            <a:off x="6583680" y="2834640"/>
            <a:ext cx="2103120" cy="685800"/>
          </a:xfrm>
          <a:prstGeom prst="rect">
            <a:avLst/>
          </a:prstGeom>
          <a:noFill/>
          <a:ln/>
        </p:spPr>
        <p:txBody>
          <a:bodyPr wrap="square" lIns="0" tIns="0" rIns="0" bIns="0" rtlCol="0" anchor="t"/>
          <a:lstStyle/>
          <a:p>
            <a:pPr indent="0" marL="0">
              <a:buNone/>
            </a:pPr>
            <a:r>
              <a:rPr lang="en-US" sz="1500" b="1" dirty="0">
                <a:solidFill>
                  <a:schemeClr val="accent1"/>
                </a:solidFill>
              </a:rPr>
              <a:t>Donut charts</a:t>
            </a:r>
            <a:endParaRPr lang="en-US" sz="1500" dirty="0"/>
          </a:p>
          <a:p>
            <a:pPr indent="0" marL="0">
              <a:buNone/>
            </a:pPr>
            <a:r>
              <a:rPr lang="en-US" sz="1300" dirty="0">
                <a:solidFill>
                  <a:schemeClr val="tx1"/>
                </a:solidFill>
              </a:rPr>
              <a:t>Endpoint health and request results</a:t>
            </a:r>
            <a:endParaRPr lang="en-US" sz="1500" dirty="0"/>
          </a:p>
        </p:txBody>
      </p:sp>
      <p:sp>
        <p:nvSpPr>
          <p:cNvPr id="8" name="Alerts note"/>
          <p:cNvSpPr txBox="1"/>
          <p:nvPr/>
        </p:nvSpPr>
        <p:spPr>
          <a:xfrm>
            <a:off x="6583680" y="3611880"/>
            <a:ext cx="2103120" cy="685800"/>
          </a:xfrm>
          <a:prstGeom prst="rect">
            <a:avLst/>
          </a:prstGeom>
          <a:noFill/>
          <a:ln/>
        </p:spPr>
        <p:txBody>
          <a:bodyPr wrap="square" lIns="0" tIns="0" rIns="0" bIns="0" rtlCol="0" anchor="t"/>
          <a:lstStyle/>
          <a:p>
            <a:pPr indent="0" marL="0">
              <a:buNone/>
            </a:pPr>
            <a:r>
              <a:rPr lang="en-US" sz="1500" b="1" dirty="0">
                <a:solidFill>
                  <a:schemeClr val="accent1"/>
                </a:solidFill>
              </a:rPr>
              <a:t>Alerts</a:t>
            </a:r>
            <a:endParaRPr lang="en-US" sz="1500" dirty="0"/>
          </a:p>
          <a:p>
            <a:pPr indent="0" marL="0">
              <a:buNone/>
            </a:pPr>
            <a:r>
              <a:rPr lang="en-US" sz="1300" dirty="0">
                <a:solidFill>
                  <a:schemeClr val="tx1"/>
                </a:solidFill>
              </a:rPr>
              <a:t>Every DEGRADED or CRITICAL endpoint</a:t>
            </a:r>
            <a:endParaRPr lang="en-US" sz="1500" dirty="0"/>
          </a:p>
        </p:txBody>
      </p:sp>
      <p:sp>
        <p:nvSpPr>
          <p:cNvPr id="9" name="Dashboard caption"/>
          <p:cNvSpPr txBox="1"/>
          <p:nvPr/>
        </p:nvSpPr>
        <p:spPr>
          <a:xfrm>
            <a:off x="457200" y="4224528"/>
            <a:ext cx="5852160" cy="274320"/>
          </a:xfrm>
          <a:prstGeom prst="rect">
            <a:avLst/>
          </a:prstGeom>
          <a:noFill/>
          <a:ln/>
        </p:spPr>
        <p:txBody>
          <a:bodyPr wrap="square" lIns="0" tIns="0" rIns="0" bIns="0" rtlCol="0" anchor="ctr"/>
          <a:lstStyle/>
          <a:p>
            <a:pPr indent="0" marL="0">
              <a:buNone/>
            </a:pPr>
            <a:r>
              <a:rPr lang="en-US" sz="1200" dirty="0">
                <a:solidFill>
                  <a:schemeClr val="accent5"/>
                </a:solidFill>
              </a:rPr>
              <a:t>The dashboard is shown by the website after a log file is uploaded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Output: Dashboard Charts</a:t>
            </a:r>
            <a:endParaRPr lang="en-US" sz="3600" dirty="0"/>
          </a:p>
        </p:txBody>
      </p:sp>
      <p:sp>
        <p:nvSpPr>
          <p:cNvPr id="3" name="Dashboard charts image frame"/>
          <p:cNvSpPr/>
          <p:nvPr/>
        </p:nvSpPr>
        <p:spPr>
          <a:xfrm>
            <a:off x="429768" y="1207008"/>
            <a:ext cx="5907024" cy="2971800"/>
          </a:xfrm>
          <a:prstGeom prst="rect">
            <a:avLst/>
          </a:prstGeom>
          <a:solidFill>
            <a:schemeClr val="bg1"/>
          </a:solidFill>
          <a:ln w="12700">
            <a:solidFill>
              <a:srgbClr val="D5DEE6"/>
            </a:solidFill>
            <a:prstDash val="solid"/>
          </a:ln>
        </p:spPr>
      </p:sp>
      <p:pic>
        <p:nvPicPr>
          <p:cNvPr id="4" name="Dashboard charts image" descr="Bar, column and line charts and the endpoint health table">    </p:cNvPr>
          <p:cNvPicPr>
            <a:picLocks noChangeAspect="1"/>
          </p:cNvPicPr>
          <p:nvPr/>
        </p:nvPicPr>
        <p:blipFill>
          <a:blip r:embed="rId1"/>
          <a:stretch>
            <a:fillRect/>
          </a:stretch>
        </p:blipFill>
        <p:spPr>
          <a:xfrm>
            <a:off x="457200" y="1234440"/>
            <a:ext cx="5852160" cy="2916936"/>
          </a:xfrm>
          <a:prstGeom prst="rect">
            <a:avLst/>
          </a:prstGeom>
        </p:spPr>
      </p:pic>
      <p:sp>
        <p:nvSpPr>
          <p:cNvPr id="5" name="Bar chart note"/>
          <p:cNvSpPr txBox="1"/>
          <p:nvPr/>
        </p:nvSpPr>
        <p:spPr>
          <a:xfrm>
            <a:off x="6583680" y="1234440"/>
            <a:ext cx="2103120" cy="685800"/>
          </a:xfrm>
          <a:prstGeom prst="rect">
            <a:avLst/>
          </a:prstGeom>
          <a:noFill/>
          <a:ln/>
        </p:spPr>
        <p:txBody>
          <a:bodyPr wrap="square" lIns="0" tIns="0" rIns="0" bIns="0" rtlCol="0" anchor="t"/>
          <a:lstStyle/>
          <a:p>
            <a:pPr indent="0" marL="0">
              <a:buNone/>
            </a:pPr>
            <a:r>
              <a:rPr lang="en-US" sz="1500" b="1" dirty="0">
                <a:solidFill>
                  <a:schemeClr val="accent1"/>
                </a:solidFill>
              </a:rPr>
              <a:t>Bar chart</a:t>
            </a:r>
            <a:endParaRPr lang="en-US" sz="1500" dirty="0"/>
          </a:p>
          <a:p>
            <a:pPr indent="0" marL="0">
              <a:buNone/>
            </a:pPr>
            <a:r>
              <a:rPr lang="en-US" sz="1300" dirty="0">
                <a:solidFill>
                  <a:schemeClr val="tx1"/>
                </a:solidFill>
              </a:rPr>
              <a:t>Error rate with 5% and 15% limits</a:t>
            </a:r>
            <a:endParaRPr lang="en-US" sz="1500" dirty="0"/>
          </a:p>
        </p:txBody>
      </p:sp>
      <p:sp>
        <p:nvSpPr>
          <p:cNvPr id="6" name="Column chart note"/>
          <p:cNvSpPr txBox="1"/>
          <p:nvPr/>
        </p:nvSpPr>
        <p:spPr>
          <a:xfrm>
            <a:off x="6583680" y="2011680"/>
            <a:ext cx="2103120" cy="685800"/>
          </a:xfrm>
          <a:prstGeom prst="rect">
            <a:avLst/>
          </a:prstGeom>
          <a:noFill/>
          <a:ln/>
        </p:spPr>
        <p:txBody>
          <a:bodyPr wrap="square" lIns="0" tIns="0" rIns="0" bIns="0" rtlCol="0" anchor="t"/>
          <a:lstStyle/>
          <a:p>
            <a:pPr indent="0" marL="0">
              <a:buNone/>
            </a:pPr>
            <a:r>
              <a:rPr lang="en-US" sz="1500" b="1" dirty="0">
                <a:solidFill>
                  <a:schemeClr val="accent1"/>
                </a:solidFill>
              </a:rPr>
              <a:t>Column chart</a:t>
            </a:r>
            <a:endParaRPr lang="en-US" sz="1500" dirty="0"/>
          </a:p>
          <a:p>
            <a:pPr indent="0" marL="0">
              <a:buNone/>
            </a:pPr>
            <a:r>
              <a:rPr lang="en-US" sz="1300" dirty="0">
                <a:solidFill>
                  <a:schemeClr val="tx1"/>
                </a:solidFill>
              </a:rPr>
              <a:t>Average and P95 response time</a:t>
            </a:r>
            <a:endParaRPr lang="en-US" sz="1500" dirty="0"/>
          </a:p>
        </p:txBody>
      </p:sp>
      <p:sp>
        <p:nvSpPr>
          <p:cNvPr id="7" name="Line chart note"/>
          <p:cNvSpPr txBox="1"/>
          <p:nvPr/>
        </p:nvSpPr>
        <p:spPr>
          <a:xfrm>
            <a:off x="6583680" y="2788920"/>
            <a:ext cx="2103120" cy="685800"/>
          </a:xfrm>
          <a:prstGeom prst="rect">
            <a:avLst/>
          </a:prstGeom>
          <a:noFill/>
          <a:ln/>
        </p:spPr>
        <p:txBody>
          <a:bodyPr wrap="square" lIns="0" tIns="0" rIns="0" bIns="0" rtlCol="0" anchor="t"/>
          <a:lstStyle/>
          <a:p>
            <a:pPr indent="0" marL="0">
              <a:buNone/>
            </a:pPr>
            <a:r>
              <a:rPr lang="en-US" sz="1500" b="1" dirty="0">
                <a:solidFill>
                  <a:schemeClr val="accent1"/>
                </a:solidFill>
              </a:rPr>
              <a:t>Line chart</a:t>
            </a:r>
            <a:endParaRPr lang="en-US" sz="1500" dirty="0"/>
          </a:p>
          <a:p>
            <a:pPr indent="0" marL="0">
              <a:buNone/>
            </a:pPr>
            <a:r>
              <a:rPr lang="en-US" sz="1300" dirty="0">
                <a:solidFill>
                  <a:schemeClr val="tx1"/>
                </a:solidFill>
              </a:rPr>
              <a:t>Errors in each hour</a:t>
            </a:r>
            <a:endParaRPr lang="en-US" sz="1500" dirty="0"/>
          </a:p>
        </p:txBody>
      </p:sp>
      <p:sp>
        <p:nvSpPr>
          <p:cNvPr id="8" name="Table note"/>
          <p:cNvSpPr txBox="1"/>
          <p:nvPr/>
        </p:nvSpPr>
        <p:spPr>
          <a:xfrm>
            <a:off x="6583680" y="3566160"/>
            <a:ext cx="2103120" cy="685800"/>
          </a:xfrm>
          <a:prstGeom prst="rect">
            <a:avLst/>
          </a:prstGeom>
          <a:noFill/>
          <a:ln/>
        </p:spPr>
        <p:txBody>
          <a:bodyPr wrap="square" lIns="0" tIns="0" rIns="0" bIns="0" rtlCol="0" anchor="t"/>
          <a:lstStyle/>
          <a:p>
            <a:pPr indent="0" marL="0">
              <a:buNone/>
            </a:pPr>
            <a:r>
              <a:rPr lang="en-US" sz="1500" b="1" dirty="0">
                <a:solidFill>
                  <a:schemeClr val="accent1"/>
                </a:solidFill>
              </a:rPr>
              <a:t>Table</a:t>
            </a:r>
            <a:endParaRPr lang="en-US" sz="1500" dirty="0"/>
          </a:p>
          <a:p>
            <a:pPr indent="0" marL="0">
              <a:buNone/>
            </a:pPr>
            <a:r>
              <a:rPr lang="en-US" sz="1300" dirty="0">
                <a:solidFill>
                  <a:schemeClr val="tx1"/>
                </a:solidFill>
              </a:rPr>
              <a:t>Colored status badge per endpoint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Conclusion and Future Work</a:t>
            </a:r>
            <a:endParaRPr lang="en-US" sz="3600" dirty="0"/>
          </a:p>
        </p:txBody>
      </p:sp>
      <p:sp>
        <p:nvSpPr>
          <p:cNvPr id="3" name="Conclusion card"/>
          <p:cNvSpPr/>
          <p:nvPr/>
        </p:nvSpPr>
        <p:spPr>
          <a:xfrm>
            <a:off x="457200" y="1280160"/>
            <a:ext cx="4023360" cy="3200400"/>
          </a:xfrm>
          <a:prstGeom prst="roundRect">
            <a:avLst>
              <a:gd name="adj" fmla="val 3429"/>
            </a:avLst>
          </a:prstGeom>
          <a:solidFill>
            <a:schemeClr val="bg2"/>
          </a:solidFill>
          <a:ln/>
        </p:spPr>
      </p:sp>
      <p:sp>
        <p:nvSpPr>
          <p:cNvPr id="4" name="Conclusion heading"/>
          <p:cNvSpPr txBox="1"/>
          <p:nvPr/>
        </p:nvSpPr>
        <p:spPr>
          <a:xfrm>
            <a:off x="731520" y="1508760"/>
            <a:ext cx="3474720" cy="411480"/>
          </a:xfrm>
          <a:prstGeom prst="rect">
            <a:avLst/>
          </a:prstGeom>
          <a:noFill/>
          <a:ln/>
        </p:spPr>
        <p:txBody>
          <a:bodyPr wrap="square" lIns="0" tIns="0" rIns="0" bIns="0" rtlCol="0" anchor="ctr"/>
          <a:lstStyle/>
          <a:p>
            <a:pPr indent="0" marL="0">
              <a:buNone/>
            </a:pPr>
            <a:r>
              <a:rPr lang="en-US" sz="2000" b="1" dirty="0">
                <a:solidFill>
                  <a:schemeClr val="tx1"/>
                </a:solidFill>
              </a:rPr>
              <a:t>Conclusion</a:t>
            </a:r>
            <a:endParaRPr lang="en-US" sz="2000" dirty="0"/>
          </a:p>
        </p:txBody>
      </p:sp>
      <p:sp>
        <p:nvSpPr>
          <p:cNvPr id="5" name="Conclusion text"/>
          <p:cNvSpPr txBox="1"/>
          <p:nvPr/>
        </p:nvSpPr>
        <p:spPr>
          <a:xfrm>
            <a:off x="731520" y="2011680"/>
            <a:ext cx="3474720" cy="2286000"/>
          </a:xfrm>
          <a:prstGeom prst="rect">
            <a:avLst/>
          </a:prstGeom>
          <a:noFill/>
          <a:ln/>
        </p:spPr>
        <p:txBody>
          <a:bodyPr wrap="square" lIns="0" tIns="0" rIns="0" bIns="0" rtlCol="0" anchor="t"/>
          <a:lstStyle/>
          <a:p>
            <a:pPr indent="0" marL="0">
              <a:buNone/>
            </a:pPr>
            <a:r>
              <a:rPr lang="en-US" sz="1500" dirty="0">
                <a:solidFill>
                  <a:schemeClr val="tx1"/>
                </a:solidFill>
              </a:rPr>
              <a:t>The analyzer turns a large raw log into a short, readable report. It finds failing and slow endpoints automatically and shows the result as text, files and a dashboard with charts in a working website.</a:t>
            </a:r>
            <a:endParaRPr lang="en-US" sz="1500" dirty="0"/>
          </a:p>
        </p:txBody>
      </p:sp>
      <p:sp>
        <p:nvSpPr>
          <p:cNvPr id="6" name="Future heading"/>
          <p:cNvSpPr txBox="1"/>
          <p:nvPr/>
        </p:nvSpPr>
        <p:spPr>
          <a:xfrm>
            <a:off x="4846320" y="1280160"/>
            <a:ext cx="3840480" cy="411480"/>
          </a:xfrm>
          <a:prstGeom prst="rect">
            <a:avLst/>
          </a:prstGeom>
          <a:noFill/>
          <a:ln/>
        </p:spPr>
        <p:txBody>
          <a:bodyPr wrap="square" lIns="0" tIns="0" rIns="0" bIns="0" rtlCol="0" anchor="ctr"/>
          <a:lstStyle/>
          <a:p>
            <a:pPr indent="0" marL="0">
              <a:buNone/>
            </a:pPr>
            <a:r>
              <a:rPr lang="en-US" sz="2000" b="1" dirty="0">
                <a:solidFill>
                  <a:schemeClr val="tx1"/>
                </a:solidFill>
              </a:rPr>
              <a:t>Future Work</a:t>
            </a:r>
            <a:endParaRPr lang="en-US" sz="2000" dirty="0"/>
          </a:p>
        </p:txBody>
      </p:sp>
      <p:sp>
        <p:nvSpPr>
          <p:cNvPr id="7" name="Live API data using requests circle"/>
          <p:cNvSpPr/>
          <p:nvPr/>
        </p:nvSpPr>
        <p:spPr>
          <a:xfrm>
            <a:off x="4846320" y="1828800"/>
            <a:ext cx="502920" cy="502920"/>
          </a:xfrm>
          <a:prstGeom prst="ellipse">
            <a:avLst/>
          </a:prstGeom>
          <a:solidFill>
            <a:schemeClr val="accent1"/>
          </a:solidFill>
          <a:ln/>
        </p:spPr>
      </p:sp>
      <p:pic>
        <p:nvPicPr>
          <p:cNvPr id="8" name="Live API data using requests icon" descr="Live API data using requests">    </p:cNvPr>
          <p:cNvPicPr>
            <a:picLocks noChangeAspect="1"/>
          </p:cNvPicPr>
          <p:nvPr/>
        </p:nvPicPr>
        <p:blipFill>
          <a:blip r:embed="rId1"/>
          <a:stretch>
            <a:fillRect/>
          </a:stretch>
        </p:blipFill>
        <p:spPr>
          <a:xfrm>
            <a:off x="4972050" y="1954530"/>
            <a:ext cx="251460" cy="251460"/>
          </a:xfrm>
          <a:prstGeom prst="rect">
            <a:avLst/>
          </a:prstGeom>
        </p:spPr>
      </p:pic>
      <p:sp>
        <p:nvSpPr>
          <p:cNvPr id="9" name="Live API data using requests text"/>
          <p:cNvSpPr txBox="1"/>
          <p:nvPr/>
        </p:nvSpPr>
        <p:spPr>
          <a:xfrm>
            <a:off x="5532120" y="1783080"/>
            <a:ext cx="3154680" cy="594360"/>
          </a:xfrm>
          <a:prstGeom prst="rect">
            <a:avLst/>
          </a:prstGeom>
          <a:noFill/>
          <a:ln/>
        </p:spPr>
        <p:txBody>
          <a:bodyPr wrap="square" lIns="0" tIns="0" rIns="0" bIns="0" rtlCol="0" anchor="ctr"/>
          <a:lstStyle/>
          <a:p>
            <a:pPr indent="0" marL="0">
              <a:buNone/>
            </a:pPr>
            <a:r>
              <a:rPr lang="en-US" sz="1400" dirty="0">
                <a:solidFill>
                  <a:schemeClr val="tx1"/>
                </a:solidFill>
              </a:rPr>
              <a:t>Live API data using requests</a:t>
            </a:r>
            <a:endParaRPr lang="en-US" sz="1400" dirty="0"/>
          </a:p>
        </p:txBody>
      </p:sp>
      <p:sp>
        <p:nvSpPr>
          <p:cNvPr id="10" name="Email alert when an endpoint turns CRITICAL circle"/>
          <p:cNvSpPr/>
          <p:nvPr/>
        </p:nvSpPr>
        <p:spPr>
          <a:xfrm>
            <a:off x="4846320" y="2514600"/>
            <a:ext cx="502920" cy="502920"/>
          </a:xfrm>
          <a:prstGeom prst="ellipse">
            <a:avLst/>
          </a:prstGeom>
          <a:solidFill>
            <a:schemeClr val="accent1"/>
          </a:solidFill>
          <a:ln/>
        </p:spPr>
      </p:sp>
      <p:pic>
        <p:nvPicPr>
          <p:cNvPr id="11" name="Email alert when an endpoint turns CRITICAL icon" descr="Email alert when an endpoint turns CRITICAL">    </p:cNvPr>
          <p:cNvPicPr>
            <a:picLocks noChangeAspect="1"/>
          </p:cNvPicPr>
          <p:nvPr/>
        </p:nvPicPr>
        <p:blipFill>
          <a:blip r:embed="rId2"/>
          <a:stretch>
            <a:fillRect/>
          </a:stretch>
        </p:blipFill>
        <p:spPr>
          <a:xfrm>
            <a:off x="4972050" y="2640330"/>
            <a:ext cx="251460" cy="251460"/>
          </a:xfrm>
          <a:prstGeom prst="rect">
            <a:avLst/>
          </a:prstGeom>
        </p:spPr>
      </p:pic>
      <p:sp>
        <p:nvSpPr>
          <p:cNvPr id="12" name="Email alert when an endpoint turns CRITICAL text"/>
          <p:cNvSpPr txBox="1"/>
          <p:nvPr/>
        </p:nvSpPr>
        <p:spPr>
          <a:xfrm>
            <a:off x="5532120" y="2468880"/>
            <a:ext cx="3154680" cy="594360"/>
          </a:xfrm>
          <a:prstGeom prst="rect">
            <a:avLst/>
          </a:prstGeom>
          <a:noFill/>
          <a:ln/>
        </p:spPr>
        <p:txBody>
          <a:bodyPr wrap="square" lIns="0" tIns="0" rIns="0" bIns="0" rtlCol="0" anchor="ctr"/>
          <a:lstStyle/>
          <a:p>
            <a:pPr indent="0" marL="0">
              <a:buNone/>
            </a:pPr>
            <a:r>
              <a:rPr lang="en-US" sz="1400" dirty="0">
                <a:solidFill>
                  <a:schemeClr val="tx1"/>
                </a:solidFill>
              </a:rPr>
              <a:t>Email alert when an endpoint turns CRITICAL</a:t>
            </a:r>
            <a:endParaRPr lang="en-US" sz="1400" dirty="0"/>
          </a:p>
        </p:txBody>
      </p:sp>
      <p:sp>
        <p:nvSpPr>
          <p:cNvPr id="13" name="Store logs in a database circle"/>
          <p:cNvSpPr/>
          <p:nvPr/>
        </p:nvSpPr>
        <p:spPr>
          <a:xfrm>
            <a:off x="4846320" y="3200400"/>
            <a:ext cx="502920" cy="502920"/>
          </a:xfrm>
          <a:prstGeom prst="ellipse">
            <a:avLst/>
          </a:prstGeom>
          <a:solidFill>
            <a:schemeClr val="accent1"/>
          </a:solidFill>
          <a:ln/>
        </p:spPr>
      </p:sp>
      <p:pic>
        <p:nvPicPr>
          <p:cNvPr id="14" name="Store logs in a database icon" descr="Store logs in a database">    </p:cNvPr>
          <p:cNvPicPr>
            <a:picLocks noChangeAspect="1"/>
          </p:cNvPicPr>
          <p:nvPr/>
        </p:nvPicPr>
        <p:blipFill>
          <a:blip r:embed="rId3"/>
          <a:stretch>
            <a:fillRect/>
          </a:stretch>
        </p:blipFill>
        <p:spPr>
          <a:xfrm>
            <a:off x="4972050" y="3326130"/>
            <a:ext cx="251460" cy="251460"/>
          </a:xfrm>
          <a:prstGeom prst="rect">
            <a:avLst/>
          </a:prstGeom>
        </p:spPr>
      </p:pic>
      <p:sp>
        <p:nvSpPr>
          <p:cNvPr id="15" name="Store logs in a database text"/>
          <p:cNvSpPr txBox="1"/>
          <p:nvPr/>
        </p:nvSpPr>
        <p:spPr>
          <a:xfrm>
            <a:off x="5532120" y="3154680"/>
            <a:ext cx="3154680" cy="594360"/>
          </a:xfrm>
          <a:prstGeom prst="rect">
            <a:avLst/>
          </a:prstGeom>
          <a:noFill/>
          <a:ln/>
        </p:spPr>
        <p:txBody>
          <a:bodyPr wrap="square" lIns="0" tIns="0" rIns="0" bIns="0" rtlCol="0" anchor="ctr"/>
          <a:lstStyle/>
          <a:p>
            <a:pPr indent="0" marL="0">
              <a:buNone/>
            </a:pPr>
            <a:r>
              <a:rPr lang="en-US" sz="1400" dirty="0">
                <a:solidFill>
                  <a:schemeClr val="tx1"/>
                </a:solidFill>
              </a:rPr>
              <a:t>Store logs in a database</a:t>
            </a:r>
            <a:endParaRPr lang="en-US" sz="1400" dirty="0"/>
          </a:p>
        </p:txBody>
      </p:sp>
      <p:sp>
        <p:nvSpPr>
          <p:cNvPr id="16" name="Host the website online, with user login circle"/>
          <p:cNvSpPr/>
          <p:nvPr/>
        </p:nvSpPr>
        <p:spPr>
          <a:xfrm>
            <a:off x="4846320" y="3886200"/>
            <a:ext cx="502920" cy="502920"/>
          </a:xfrm>
          <a:prstGeom prst="ellipse">
            <a:avLst/>
          </a:prstGeom>
          <a:solidFill>
            <a:schemeClr val="accent1"/>
          </a:solidFill>
          <a:ln/>
        </p:spPr>
      </p:sp>
      <p:pic>
        <p:nvPicPr>
          <p:cNvPr id="17" name="Host the website online, with user login icon" descr="Host the website online, with user login">    </p:cNvPr>
          <p:cNvPicPr>
            <a:picLocks noChangeAspect="1"/>
          </p:cNvPicPr>
          <p:nvPr/>
        </p:nvPicPr>
        <p:blipFill>
          <a:blip r:embed="rId4"/>
          <a:stretch>
            <a:fillRect/>
          </a:stretch>
        </p:blipFill>
        <p:spPr>
          <a:xfrm>
            <a:off x="4972050" y="4011930"/>
            <a:ext cx="251460" cy="251460"/>
          </a:xfrm>
          <a:prstGeom prst="rect">
            <a:avLst/>
          </a:prstGeom>
        </p:spPr>
      </p:pic>
      <p:sp>
        <p:nvSpPr>
          <p:cNvPr id="18" name="Host the website online, with user login text"/>
          <p:cNvSpPr txBox="1"/>
          <p:nvPr/>
        </p:nvSpPr>
        <p:spPr>
          <a:xfrm>
            <a:off x="5532120" y="3840480"/>
            <a:ext cx="3154680" cy="594360"/>
          </a:xfrm>
          <a:prstGeom prst="rect">
            <a:avLst/>
          </a:prstGeom>
          <a:noFill/>
          <a:ln/>
        </p:spPr>
        <p:txBody>
          <a:bodyPr wrap="square" lIns="0" tIns="0" rIns="0" bIns="0" rtlCol="0" anchor="ctr"/>
          <a:lstStyle/>
          <a:p>
            <a:pPr indent="0" marL="0">
              <a:buNone/>
            </a:pPr>
            <a:r>
              <a:rPr lang="en-US" sz="1400" dirty="0">
                <a:solidFill>
                  <a:schemeClr val="tx1"/>
                </a:solidFill>
              </a:rPr>
              <a:t>Host the website online, with user login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6949440" cy="777240"/>
          </a:xfrm>
          <a:prstGeom prst="rect">
            <a:avLst/>
          </a:prstGeom>
          <a:noFill/>
          <a:ln/>
        </p:spPr>
        <p:txBody>
          <a:bodyPr wrap="square" lIns="0" tIns="0" rIns="0" bIns="0" rtlCol="0" anchor="ctr"/>
          <a:lstStyle/>
          <a:p>
            <a:pPr algn="l" indent="0" marL="0">
              <a:buNone/>
            </a:pPr>
            <a:r>
              <a:rPr lang="en-US" sz="3600" b="1" dirty="0">
                <a:solidFill>
                  <a:schemeClr val="tx1"/>
                </a:solidFill>
              </a:rPr>
              <a:t>Learning Outcomes</a:t>
            </a:r>
            <a:endParaRPr lang="en-US" sz="3600" dirty="0"/>
          </a:p>
        </p:txBody>
      </p:sp>
      <p:sp>
        <p:nvSpPr>
          <p:cNvPr id="3" name="Outcome card 1"/>
          <p:cNvSpPr/>
          <p:nvPr/>
        </p:nvSpPr>
        <p:spPr>
          <a:xfrm>
            <a:off x="457200" y="1325880"/>
            <a:ext cx="4023360" cy="914400"/>
          </a:xfrm>
          <a:prstGeom prst="roundRect">
            <a:avLst>
              <a:gd name="adj" fmla="val 12000"/>
            </a:avLst>
          </a:prstGeom>
          <a:solidFill>
            <a:schemeClr val="bg2"/>
          </a:solidFill>
          <a:ln/>
        </p:spPr>
      </p:sp>
      <p:sp>
        <p:nvSpPr>
          <p:cNvPr id="4" name="Outcome 1 circle"/>
          <p:cNvSpPr/>
          <p:nvPr/>
        </p:nvSpPr>
        <p:spPr>
          <a:xfrm>
            <a:off x="640080" y="1554480"/>
            <a:ext cx="457200" cy="457200"/>
          </a:xfrm>
          <a:prstGeom prst="ellipse">
            <a:avLst/>
          </a:prstGeom>
          <a:solidFill>
            <a:schemeClr val="accent1"/>
          </a:solidFill>
          <a:ln/>
        </p:spPr>
      </p:sp>
      <p:pic>
        <p:nvPicPr>
          <p:cNvPr id="5" name="Outcome 1 icon" descr="Outcome 1">    </p:cNvPr>
          <p:cNvPicPr>
            <a:picLocks noChangeAspect="1"/>
          </p:cNvPicPr>
          <p:nvPr/>
        </p:nvPicPr>
        <p:blipFill>
          <a:blip r:embed="rId1"/>
          <a:stretch>
            <a:fillRect/>
          </a:stretch>
        </p:blipFill>
        <p:spPr>
          <a:xfrm>
            <a:off x="754380" y="1668780"/>
            <a:ext cx="228600" cy="228600"/>
          </a:xfrm>
          <a:prstGeom prst="rect">
            <a:avLst/>
          </a:prstGeom>
        </p:spPr>
      </p:pic>
      <p:sp>
        <p:nvSpPr>
          <p:cNvPr id="6" name="Outcome text 1"/>
          <p:cNvSpPr txBox="1"/>
          <p:nvPr/>
        </p:nvSpPr>
        <p:spPr>
          <a:xfrm>
            <a:off x="1280160" y="1325880"/>
            <a:ext cx="3063240" cy="914400"/>
          </a:xfrm>
          <a:prstGeom prst="rect">
            <a:avLst/>
          </a:prstGeom>
          <a:noFill/>
          <a:ln/>
        </p:spPr>
        <p:txBody>
          <a:bodyPr wrap="square" lIns="0" tIns="0" rIns="0" bIns="0" rtlCol="0" anchor="ctr"/>
          <a:lstStyle/>
          <a:p>
            <a:pPr indent="0" marL="0">
              <a:buNone/>
            </a:pPr>
            <a:r>
              <a:rPr lang="en-US" sz="1500" dirty="0">
                <a:solidFill>
                  <a:schemeClr val="tx1"/>
                </a:solidFill>
              </a:rPr>
              <a:t>File handling and regular expressions for parsing</a:t>
            </a:r>
            <a:endParaRPr lang="en-US" sz="1500" dirty="0"/>
          </a:p>
        </p:txBody>
      </p:sp>
      <p:sp>
        <p:nvSpPr>
          <p:cNvPr id="7" name="Outcome card 2"/>
          <p:cNvSpPr/>
          <p:nvPr/>
        </p:nvSpPr>
        <p:spPr>
          <a:xfrm>
            <a:off x="4663440" y="1325880"/>
            <a:ext cx="4023360" cy="914400"/>
          </a:xfrm>
          <a:prstGeom prst="roundRect">
            <a:avLst>
              <a:gd name="adj" fmla="val 12000"/>
            </a:avLst>
          </a:prstGeom>
          <a:solidFill>
            <a:schemeClr val="bg2"/>
          </a:solidFill>
          <a:ln/>
        </p:spPr>
      </p:sp>
      <p:sp>
        <p:nvSpPr>
          <p:cNvPr id="8" name="Outcome 2 circle"/>
          <p:cNvSpPr/>
          <p:nvPr/>
        </p:nvSpPr>
        <p:spPr>
          <a:xfrm>
            <a:off x="4846320" y="1554480"/>
            <a:ext cx="457200" cy="457200"/>
          </a:xfrm>
          <a:prstGeom prst="ellipse">
            <a:avLst/>
          </a:prstGeom>
          <a:solidFill>
            <a:schemeClr val="accent1"/>
          </a:solidFill>
          <a:ln/>
        </p:spPr>
      </p:sp>
      <p:pic>
        <p:nvPicPr>
          <p:cNvPr id="9" name="Outcome 2 icon" descr="Outcome 2">    </p:cNvPr>
          <p:cNvPicPr>
            <a:picLocks noChangeAspect="1"/>
          </p:cNvPicPr>
          <p:nvPr/>
        </p:nvPicPr>
        <p:blipFill>
          <a:blip r:embed="rId2"/>
          <a:stretch>
            <a:fillRect/>
          </a:stretch>
        </p:blipFill>
        <p:spPr>
          <a:xfrm>
            <a:off x="4960620" y="1668780"/>
            <a:ext cx="228600" cy="228600"/>
          </a:xfrm>
          <a:prstGeom prst="rect">
            <a:avLst/>
          </a:prstGeom>
        </p:spPr>
      </p:pic>
      <p:sp>
        <p:nvSpPr>
          <p:cNvPr id="10" name="Outcome text 2"/>
          <p:cNvSpPr txBox="1"/>
          <p:nvPr/>
        </p:nvSpPr>
        <p:spPr>
          <a:xfrm>
            <a:off x="5486400" y="1325880"/>
            <a:ext cx="3063240" cy="914400"/>
          </a:xfrm>
          <a:prstGeom prst="rect">
            <a:avLst/>
          </a:prstGeom>
          <a:noFill/>
          <a:ln/>
        </p:spPr>
        <p:txBody>
          <a:bodyPr wrap="square" lIns="0" tIns="0" rIns="0" bIns="0" rtlCol="0" anchor="ctr"/>
          <a:lstStyle/>
          <a:p>
            <a:pPr indent="0" marL="0">
              <a:buNone/>
            </a:pPr>
            <a:r>
              <a:rPr lang="en-US" sz="1500" dirty="0">
                <a:solidFill>
                  <a:schemeClr val="tx1"/>
                </a:solidFill>
              </a:rPr>
              <a:t>Dictionaries, defaultdict and Counter for grouping</a:t>
            </a:r>
            <a:endParaRPr lang="en-US" sz="1500" dirty="0"/>
          </a:p>
        </p:txBody>
      </p:sp>
      <p:sp>
        <p:nvSpPr>
          <p:cNvPr id="11" name="Outcome card 3"/>
          <p:cNvSpPr/>
          <p:nvPr/>
        </p:nvSpPr>
        <p:spPr>
          <a:xfrm>
            <a:off x="457200" y="2377440"/>
            <a:ext cx="4023360" cy="914400"/>
          </a:xfrm>
          <a:prstGeom prst="roundRect">
            <a:avLst>
              <a:gd name="adj" fmla="val 12000"/>
            </a:avLst>
          </a:prstGeom>
          <a:solidFill>
            <a:schemeClr val="bg2"/>
          </a:solidFill>
          <a:ln/>
        </p:spPr>
      </p:sp>
      <p:sp>
        <p:nvSpPr>
          <p:cNvPr id="12" name="Outcome 3 circle"/>
          <p:cNvSpPr/>
          <p:nvPr/>
        </p:nvSpPr>
        <p:spPr>
          <a:xfrm>
            <a:off x="640080" y="2606040"/>
            <a:ext cx="457200" cy="457200"/>
          </a:xfrm>
          <a:prstGeom prst="ellipse">
            <a:avLst/>
          </a:prstGeom>
          <a:solidFill>
            <a:schemeClr val="accent1"/>
          </a:solidFill>
          <a:ln/>
        </p:spPr>
      </p:sp>
      <p:pic>
        <p:nvPicPr>
          <p:cNvPr id="13" name="Outcome 3 icon" descr="Outcome 3">    </p:cNvPr>
          <p:cNvPicPr>
            <a:picLocks noChangeAspect="1"/>
          </p:cNvPicPr>
          <p:nvPr/>
        </p:nvPicPr>
        <p:blipFill>
          <a:blip r:embed="rId3"/>
          <a:stretch>
            <a:fillRect/>
          </a:stretch>
        </p:blipFill>
        <p:spPr>
          <a:xfrm>
            <a:off x="754380" y="2720340"/>
            <a:ext cx="228600" cy="228600"/>
          </a:xfrm>
          <a:prstGeom prst="rect">
            <a:avLst/>
          </a:prstGeom>
        </p:spPr>
      </p:pic>
      <p:sp>
        <p:nvSpPr>
          <p:cNvPr id="14" name="Outcome text 3"/>
          <p:cNvSpPr txBox="1"/>
          <p:nvPr/>
        </p:nvSpPr>
        <p:spPr>
          <a:xfrm>
            <a:off x="1280160" y="2377440"/>
            <a:ext cx="3063240" cy="914400"/>
          </a:xfrm>
          <a:prstGeom prst="rect">
            <a:avLst/>
          </a:prstGeom>
          <a:noFill/>
          <a:ln/>
        </p:spPr>
        <p:txBody>
          <a:bodyPr wrap="square" lIns="0" tIns="0" rIns="0" bIns="0" rtlCol="0" anchor="ctr"/>
          <a:lstStyle/>
          <a:p>
            <a:pPr indent="0" marL="0">
              <a:buNone/>
            </a:pPr>
            <a:r>
              <a:rPr lang="en-US" sz="1500" dirty="0">
                <a:solidFill>
                  <a:schemeClr val="tx1"/>
                </a:solidFill>
              </a:rPr>
              <a:t>Statistics: mean, median and percentiles</a:t>
            </a:r>
            <a:endParaRPr lang="en-US" sz="1500" dirty="0"/>
          </a:p>
        </p:txBody>
      </p:sp>
      <p:sp>
        <p:nvSpPr>
          <p:cNvPr id="15" name="Outcome card 4"/>
          <p:cNvSpPr/>
          <p:nvPr/>
        </p:nvSpPr>
        <p:spPr>
          <a:xfrm>
            <a:off x="4663440" y="2377440"/>
            <a:ext cx="4023360" cy="914400"/>
          </a:xfrm>
          <a:prstGeom prst="roundRect">
            <a:avLst>
              <a:gd name="adj" fmla="val 12000"/>
            </a:avLst>
          </a:prstGeom>
          <a:solidFill>
            <a:schemeClr val="bg2"/>
          </a:solidFill>
          <a:ln/>
        </p:spPr>
      </p:sp>
      <p:sp>
        <p:nvSpPr>
          <p:cNvPr id="16" name="Outcome 4 circle"/>
          <p:cNvSpPr/>
          <p:nvPr/>
        </p:nvSpPr>
        <p:spPr>
          <a:xfrm>
            <a:off x="4846320" y="2606040"/>
            <a:ext cx="457200" cy="457200"/>
          </a:xfrm>
          <a:prstGeom prst="ellipse">
            <a:avLst/>
          </a:prstGeom>
          <a:solidFill>
            <a:schemeClr val="accent1"/>
          </a:solidFill>
          <a:ln/>
        </p:spPr>
      </p:sp>
      <p:pic>
        <p:nvPicPr>
          <p:cNvPr id="17" name="Outcome 4 icon" descr="Outcome 4">    </p:cNvPr>
          <p:cNvPicPr>
            <a:picLocks noChangeAspect="1"/>
          </p:cNvPicPr>
          <p:nvPr/>
        </p:nvPicPr>
        <p:blipFill>
          <a:blip r:embed="rId4"/>
          <a:stretch>
            <a:fillRect/>
          </a:stretch>
        </p:blipFill>
        <p:spPr>
          <a:xfrm>
            <a:off x="4960620" y="2720340"/>
            <a:ext cx="228600" cy="228600"/>
          </a:xfrm>
          <a:prstGeom prst="rect">
            <a:avLst/>
          </a:prstGeom>
        </p:spPr>
      </p:pic>
      <p:sp>
        <p:nvSpPr>
          <p:cNvPr id="18" name="Outcome text 4"/>
          <p:cNvSpPr txBox="1"/>
          <p:nvPr/>
        </p:nvSpPr>
        <p:spPr>
          <a:xfrm>
            <a:off x="5486400" y="2377440"/>
            <a:ext cx="3063240" cy="914400"/>
          </a:xfrm>
          <a:prstGeom prst="rect">
            <a:avLst/>
          </a:prstGeom>
          <a:noFill/>
          <a:ln/>
        </p:spPr>
        <p:txBody>
          <a:bodyPr wrap="square" lIns="0" tIns="0" rIns="0" bIns="0" rtlCol="0" anchor="ctr"/>
          <a:lstStyle/>
          <a:p>
            <a:pPr indent="0" marL="0">
              <a:buNone/>
            </a:pPr>
            <a:r>
              <a:rPr lang="en-US" sz="1500" dirty="0">
                <a:solidFill>
                  <a:schemeClr val="tx1"/>
                </a:solidFill>
              </a:rPr>
              <a:t>Exception handling, argparse, JSON and CSV export</a:t>
            </a:r>
            <a:endParaRPr lang="en-US" sz="1500" dirty="0"/>
          </a:p>
        </p:txBody>
      </p:sp>
      <p:sp>
        <p:nvSpPr>
          <p:cNvPr id="19" name="Outcome card 5"/>
          <p:cNvSpPr/>
          <p:nvPr/>
        </p:nvSpPr>
        <p:spPr>
          <a:xfrm>
            <a:off x="457200" y="3429000"/>
            <a:ext cx="4023360" cy="914400"/>
          </a:xfrm>
          <a:prstGeom prst="roundRect">
            <a:avLst>
              <a:gd name="adj" fmla="val 12000"/>
            </a:avLst>
          </a:prstGeom>
          <a:solidFill>
            <a:schemeClr val="bg2"/>
          </a:solidFill>
          <a:ln/>
        </p:spPr>
      </p:sp>
      <p:sp>
        <p:nvSpPr>
          <p:cNvPr id="20" name="Outcome 5 circle"/>
          <p:cNvSpPr/>
          <p:nvPr/>
        </p:nvSpPr>
        <p:spPr>
          <a:xfrm>
            <a:off x="640080" y="3657600"/>
            <a:ext cx="457200" cy="457200"/>
          </a:xfrm>
          <a:prstGeom prst="ellipse">
            <a:avLst/>
          </a:prstGeom>
          <a:solidFill>
            <a:schemeClr val="accent1"/>
          </a:solidFill>
          <a:ln/>
        </p:spPr>
      </p:sp>
      <p:pic>
        <p:nvPicPr>
          <p:cNvPr id="21" name="Outcome 5 icon" descr="Outcome 5">    </p:cNvPr>
          <p:cNvPicPr>
            <a:picLocks noChangeAspect="1"/>
          </p:cNvPicPr>
          <p:nvPr/>
        </p:nvPicPr>
        <p:blipFill>
          <a:blip r:embed="rId5"/>
          <a:stretch>
            <a:fillRect/>
          </a:stretch>
        </p:blipFill>
        <p:spPr>
          <a:xfrm>
            <a:off x="754380" y="3771900"/>
            <a:ext cx="228600" cy="228600"/>
          </a:xfrm>
          <a:prstGeom prst="rect">
            <a:avLst/>
          </a:prstGeom>
        </p:spPr>
      </p:pic>
      <p:sp>
        <p:nvSpPr>
          <p:cNvPr id="22" name="Outcome text 5"/>
          <p:cNvSpPr txBox="1"/>
          <p:nvPr/>
        </p:nvSpPr>
        <p:spPr>
          <a:xfrm>
            <a:off x="1280160" y="3429000"/>
            <a:ext cx="3063240" cy="914400"/>
          </a:xfrm>
          <a:prstGeom prst="rect">
            <a:avLst/>
          </a:prstGeom>
          <a:noFill/>
          <a:ln/>
        </p:spPr>
        <p:txBody>
          <a:bodyPr wrap="square" lIns="0" tIns="0" rIns="0" bIns="0" rtlCol="0" anchor="ctr"/>
          <a:lstStyle/>
          <a:p>
            <a:pPr indent="0" marL="0">
              <a:buNone/>
            </a:pPr>
            <a:r>
              <a:rPr lang="en-US" sz="1500" dirty="0">
                <a:solidFill>
                  <a:schemeClr val="tx1"/>
                </a:solidFill>
              </a:rPr>
              <a:t>Flask routes, file upload and safe input handling</a:t>
            </a:r>
            <a:endParaRPr lang="en-US" sz="1500" dirty="0"/>
          </a:p>
        </p:txBody>
      </p:sp>
      <p:sp>
        <p:nvSpPr>
          <p:cNvPr id="23" name="Outcome card 6"/>
          <p:cNvSpPr/>
          <p:nvPr/>
        </p:nvSpPr>
        <p:spPr>
          <a:xfrm>
            <a:off x="4663440" y="3429000"/>
            <a:ext cx="4023360" cy="914400"/>
          </a:xfrm>
          <a:prstGeom prst="roundRect">
            <a:avLst>
              <a:gd name="adj" fmla="val 12000"/>
            </a:avLst>
          </a:prstGeom>
          <a:solidFill>
            <a:schemeClr val="bg2"/>
          </a:solidFill>
          <a:ln/>
        </p:spPr>
      </p:sp>
      <p:sp>
        <p:nvSpPr>
          <p:cNvPr id="24" name="Outcome 6 circle"/>
          <p:cNvSpPr/>
          <p:nvPr/>
        </p:nvSpPr>
        <p:spPr>
          <a:xfrm>
            <a:off x="4846320" y="3657600"/>
            <a:ext cx="457200" cy="457200"/>
          </a:xfrm>
          <a:prstGeom prst="ellipse">
            <a:avLst/>
          </a:prstGeom>
          <a:solidFill>
            <a:schemeClr val="accent1"/>
          </a:solidFill>
          <a:ln/>
        </p:spPr>
      </p:sp>
      <p:pic>
        <p:nvPicPr>
          <p:cNvPr id="25" name="Outcome 6 icon" descr="Outcome 6">    </p:cNvPr>
          <p:cNvPicPr>
            <a:picLocks noChangeAspect="1"/>
          </p:cNvPicPr>
          <p:nvPr/>
        </p:nvPicPr>
        <p:blipFill>
          <a:blip r:embed="rId6"/>
          <a:stretch>
            <a:fillRect/>
          </a:stretch>
        </p:blipFill>
        <p:spPr>
          <a:xfrm>
            <a:off x="4960620" y="3771900"/>
            <a:ext cx="228600" cy="228600"/>
          </a:xfrm>
          <a:prstGeom prst="rect">
            <a:avLst/>
          </a:prstGeom>
        </p:spPr>
      </p:pic>
      <p:sp>
        <p:nvSpPr>
          <p:cNvPr id="26" name="Outcome text 6"/>
          <p:cNvSpPr txBox="1"/>
          <p:nvPr/>
        </p:nvSpPr>
        <p:spPr>
          <a:xfrm>
            <a:off x="5486400" y="3429000"/>
            <a:ext cx="3063240" cy="914400"/>
          </a:xfrm>
          <a:prstGeom prst="rect">
            <a:avLst/>
          </a:prstGeom>
          <a:noFill/>
          <a:ln/>
        </p:spPr>
        <p:txBody>
          <a:bodyPr wrap="square" lIns="0" tIns="0" rIns="0" bIns="0" rtlCol="0" anchor="ctr"/>
          <a:lstStyle/>
          <a:p>
            <a:pPr indent="0" marL="0">
              <a:buNone/>
            </a:pPr>
            <a:r>
              <a:rPr lang="en-US" sz="1500" dirty="0">
                <a:solidFill>
                  <a:schemeClr val="tx1"/>
                </a:solidFill>
              </a:rPr>
              <a:t>Charts drawn as SVG and an HTML dashboard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7863840" cy="822960"/>
          </a:xfrm>
          <a:prstGeom prst="rect">
            <a:avLst/>
          </a:prstGeom>
          <a:noFill/>
          <a:ln/>
        </p:spPr>
        <p:txBody>
          <a:bodyPr wrap="square" lIns="0" tIns="0" rIns="0" bIns="0" rtlCol="0" anchor="ctr"/>
          <a:lstStyle/>
          <a:p>
            <a:pPr algn="l" indent="0" marL="0">
              <a:buNone/>
            </a:pPr>
            <a:r>
              <a:rPr lang="en-US" sz="3600" b="1" dirty="0">
                <a:solidFill>
                  <a:schemeClr val="bg1"/>
                </a:solidFill>
              </a:rPr>
              <a:t>Thank You</a:t>
            </a:r>
            <a:endParaRPr lang="en-US" sz="3600" dirty="0"/>
          </a:p>
        </p:txBody>
      </p:sp>
      <p:sp>
        <p:nvSpPr>
          <p:cNvPr id="3" name="Questions circle"/>
          <p:cNvSpPr/>
          <p:nvPr/>
        </p:nvSpPr>
        <p:spPr>
          <a:xfrm>
            <a:off x="3200400" y="1417320"/>
            <a:ext cx="2743200" cy="2743200"/>
          </a:xfrm>
          <a:prstGeom prst="ellipse">
            <a:avLst/>
          </a:prstGeom>
          <a:solidFill>
            <a:schemeClr val="accent1"/>
          </a:solidFill>
          <a:ln/>
        </p:spPr>
      </p:sp>
      <p:sp>
        <p:nvSpPr>
          <p:cNvPr id="4" name="Questions text"/>
          <p:cNvSpPr txBox="1"/>
          <p:nvPr/>
        </p:nvSpPr>
        <p:spPr>
          <a:xfrm>
            <a:off x="3200400" y="1417320"/>
            <a:ext cx="2743200" cy="2743200"/>
          </a:xfrm>
          <a:prstGeom prst="rect">
            <a:avLst/>
          </a:prstGeom>
          <a:noFill/>
          <a:ln/>
        </p:spPr>
        <p:txBody>
          <a:bodyPr wrap="square" lIns="0" tIns="0" rIns="0" bIns="0" rtlCol="0" anchor="ctr"/>
          <a:lstStyle/>
          <a:p>
            <a:pPr algn="ctr" indent="0" marL="0">
              <a:buNone/>
            </a:pPr>
            <a:r>
              <a:rPr lang="en-US" sz="3200" b="1" dirty="0">
                <a:solidFill>
                  <a:schemeClr val="bg1"/>
                </a:solidFill>
              </a:rPr>
              <a:t>Questions?</a:t>
            </a:r>
            <a:endParaRPr lang="en-US" sz="3200" dirty="0"/>
          </a:p>
        </p:txBody>
      </p:sp>
    </p:spTree>
  </p:cSld>
  <p:clrMapOvr>
    <a:masterClrMapping/>
  </p:clrMapOvr>
</p:sld>
</file>

<file path=ppt/theme/theme1.xml><?xml version="1.0" encoding="utf-8"?>
<a:theme xmlns:a="http://schemas.openxmlformats.org/drawingml/2006/main" name="API Health CU">
  <a:themeElements>
    <a:clrScheme name="API Health CU">
      <a:dk1>
        <a:srgbClr val="0B1B2B"/>
      </a:dk1>
      <a:lt1>
        <a:srgbClr val="FFFFFF"/>
      </a:lt1>
      <a:dk2>
        <a:srgbClr val="12304A"/>
      </a:dk2>
      <a:lt2>
        <a:srgbClr val="EAF2F7"/>
      </a:lt2>
      <a:accent1>
        <a:srgbClr val="0E9AA7"/>
      </a:accent1>
      <a:accent2>
        <a:srgbClr val="F2A541"/>
      </a:accent2>
      <a:accent3>
        <a:srgbClr val="D64545"/>
      </a:accent3>
      <a:accent4>
        <a:srgbClr val="2E9E6B"/>
      </a:accent4>
      <a:accent5>
        <a:srgbClr val="4F6F8C"/>
      </a:accent5>
      <a:accent6>
        <a:srgbClr val="8FB8DE"/>
      </a:accent6>
      <a:hlink>
        <a:srgbClr val="0E9AA7"/>
      </a:hlink>
      <a:folHlink>
        <a:srgbClr val="4F6F8C"/>
      </a:folHlink>
    </a:clrScheme>
    <a:fontScheme name="API Health CU">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Health Log Analyzer Using Python</dc:title>
  <dc:subject>Python Mini Project, MCA (CC&amp;D) Semester 1</dc:subject>
  <dc:creator>PptxGenJS</dc:creator>
  <cp:lastModifiedBy>PptxGenJS</cp:lastModifiedBy>
  <cp:revision>1</cp:revision>
  <dcterms:created xsi:type="dcterms:W3CDTF">2026-10-29T04:30:57Z</dcterms:created>
  <dcterms:modified xsi:type="dcterms:W3CDTF">2026-10-29T04:30:57Z</dcterms:modified>
</cp:coreProperties>
</file>